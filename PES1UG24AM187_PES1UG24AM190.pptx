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486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[names]. Our project asks a simple question: can a computer look at a song and guess whether it will become a hit? We started from a student paper from Stanford called HitPredict. We rebuilt every experiment in it, checked whether its testing was fair, and then tried to improve it. In the next few minutes we will show what we found, including a few surprises in the original paper, and then give a short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task in plain words. On the left is what the computer gets: numbers that Spotify measures from the audio, like danceability, energy and loudness, plus one simple fact, whether the artist has had a Hot 100 hit before. In the middle is what it gives back: yes or no, will this song chart, with a confidence percentage. On the right is why anyone cares. Record labels spend a lot on promotion, so even a rough early filter is useful, and the expensive mistake is backing a song that flops.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was a student paper from Stanford's machine learning course in 2018, called HitPredict. The authors collected about four thousand songs, tried five methods, and their best models got about 76 percent of songs right on their check set. We set ourselves three goals. First, repeat every experiment and see if we get the same numbers. Second, check whether the way they tested was fair, meaning the score reflects how the model would do on new songs. Third, try to do better, and be able to explain why each change helps or does not.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exact data from the paper, which the authors shared with their code. That matters because Spotify closed this data feed to new users in 2024, so nobody can collect it again. After removing 21 duplicate rows there are 4,019 songs. 1,595 of them, about 40 percent, were Hot 100 hits. The rest are random songs that never charted. Each song has nine sound measurements from Spotify, shown in green, and one extra fact the authors added: whether the artist already had a hit before. Keep that last one in mind, it turns out to be the strongest clue.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 had five steps. One, get the original data and check it. Two, rerun the paper exactly as the authors did, with the same split of the data and the same settings, to see if their numbers come back. Three, build a fair test, which we explain on the next slide. Four, compare thirteen different methods, from a one-line rule to large collections of decision trees, all tested the same fair way. Five, improve the best approach with four changes, adding them one at a time so we can see what each one is worth.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is only fair if the model has not seen the answers. So we split the songs by artist. Three quarters of the artists, 3,015 songs, are for learning and tuning. The other quarter, 1,004 songs by 534 artists, is a final exam the model sees only once, at the very end. Every choice, like which settings to use, is made on practice rounds inside the learning set. The paper did not do this. It picked its settings using the same songs it reported its score on. When we copied that habit over 20 random splits, the reported score came out 1.7 points higher than the score on fresh songs, against 1.0 point when nothing is picked that way. One surprise: mixing artists on both sides barely changed the score here, by less than one point, because the artist score already carries what the artist's name would.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can we trust that we are working with the same thing as the paper? Yes. Each pair of bars is one method: light blue is the paper's number, dark purple is our rerun. For logistic regression we got exactly 75.9 percent, and even the detailed count of right and wrong answers is identical. Four of the seven methods match to the decimal. Two of them only matched after we found that a software library had quietly changed one default setting since 2018. The decision tree and the neural network are within 1.6 points, which is normal because they involve some randomness.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rebuilding the paper we found three mistakes in how its code counts correct answers. Blue is what the paper reported, red is the same thing counted correctly. On the left, the paper said one method scored only 55 percent on the very songs it learned from, and concluded it was overfitting. The real figure is 72.1 percent, so there is no overfitting. In the middle, grouping songs without labels looked like a coin flip at 50 percent; correctly counted it is 62.6 percent. On the right, a group of 50 voting trees looked like it got 2.7 percent right. The code only counted a song as correct when every single tree agreed. Counted normally, it gets 75.5 percent. So some of the paper's conclusions come from these counting slips, not from the methods.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claimed that holiday hits, released November to January, are different from other hits, because its model did worse on them. We found a simpler reason. Look at the left chart: a third of all songs are dated January. That is because when Spotify only knows the year of a release, it stores it as the first of January. So the "holiday" group is mostly songs with an unknown month. On the right, when we test fairly, songs really released in November and December are predicted better than average, 78.4 percent. The weak spot is January at 71.3 percent, which is mostly the group of unknown dates. So the holiday effect is mostly a data glitch.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compared thirteen methods, all tuned and tested the same fair way on artists they had never seen. The bottom bar is the laziest possible guess, always say "not a hit", which is right 60 percent of the time. The light blue bar is a one-line rule: say "hit" whenever the artist has had a hit before. That alone gets 72.1 percent. The best method, gradient boosting, reaches 75.9 percent. And nine methods finish within two points of each other. So the honest message is that the sound of a song adds only a few points on top of the artist's track record, and the choice of method matters less than you might expect. We picked the best model using practice rounds, not the test, and it also happened to be top on the test.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our final model still goes wrong, on the 1,004 test songs. Green boxes are right answers, pink boxes are mistakes. It gets 248 songs wrong, about one in four. There are two kinds of mistake. 135 real hits were missed, and 113 songs were called hits but were not. The interesting part is who the missed hits are: 119 of the 135 come from new artists with no previous hit. For artists who already had a hit, the model finds 90 percent of their hits. For newcomers it finds only 48 percent. That makes sense: for a new artist, the sound measurements are the only clue, and they are weak clues. To do better on newcomers we would need other signals, like early playlist or radio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own additions, each tested on the same unseen artists. We started from the paper's model at 73.1 percent. First, we trained on 813 extra songs the paper had left out. That changed nothing, which tells us the simple model was limited by its design, not by the amount of data. Second, better features: we rescaled some lopsided measurements and let the model treat new and established artists differently. That added 1.2 points. Third, boosted trees, which can learn step-like rules, for example that very instrumental songs are rarely hits. That added one more point, to 75.3 percent. Fourth, a cautious mode for a record label: it only says "hit" when it is fairly sure, so when it does say hit it is right 77.5 percent of the time instead of 69.9, at the cost of missing more hits. To be honest about it: the total gain is 2.2 points, and the error bars show that is still within the margin of chance on a test of this size.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switch to the live demo. It is a small web app that loads our saved models. First, we pick a real song from the test set, one the model has never seen, and show its chance of being a hit next to what really happened. Second, the cautious call, which only says "hit" when the model is fairly sure. Third, we can list every test song the model gets wrong, which shows its weak spots honestly. Finally, we can make up a song with sliders and watch the prediction move, for example by switching the artist's previous hit on and off. If the app has any trouble, we have the same predictions ready from the command line. To launch: streamlit run app/streamlit_app.py. Backup: python -m hitpredict.predict --random 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three numbers, make it these. 75.9 percent: we rebuilt the paper's best result exactly, so our comparison is on solid ground. Three: we found three counting mistakes in the original code, and fixing them overturns some of the paper's conclusions. And 75.3 percent: our final model's score on 1,004 songs by artists it had never seen, compared with 73.1 percent for the paper's model on the very same songs. That gain is real but small, and we are careful not to oversell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the limits. First, we only have Spotify's sound measurements, and because Spotify closed this data feed we cannot add new ones such as song length. Second, the non-hits in this data are random songs, many of them obscure, so telling them apart from hits is easier than telling a hit from a near miss. A real record label would face harder cases. Third, our test has about a thousand songs, so any difference smaller than about three points could be luck. For next steps, we would add signals that capture buzz, like playlist adds or radio play, compare hits against songs that nearly charted, and predict how high a song climbs rather than a plain yes or no.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To sum up in one line: we rebuilt the HitPredict paper exactly, found and fixed three counting mistakes in its code, tested fairly on artists the model had never seen, and improved the score from 73.1 to 75.3 percent, while being honest that this gain is small. We are happy to take questions. If a question is about the code, everything is in our repository, and one script reruns all the experiments in about ten minutes.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CF7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31" y="1127668"/>
            <a:ext cx="10566453" cy="467361"/>
          </a:xfrm>
          <a:prstGeom prst="rect">
            <a:avLst/>
          </a:prstGeom>
          <a:noFill/>
          <a:ln/>
        </p:spPr>
        <p:txBody>
          <a:bodyPr wrap="square" lIns="0" tIns="0" rIns="0" bIns="0" rtlCol="0" anchor="t"/>
          <a:lstStyle>
            <a:lvl1pPr marL="0" indent="0" algn="l">
              <a:lnSpc>
                <a:spcPct val="115000"/>
              </a:lnSpc>
              <a:buNone/>
              <a:defRPr lang="en-US" sz="3200" dirty="0">
                <a:solidFill>
                  <a:srgbClr val="503156"/>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31" y="1899829"/>
            <a:ext cx="10566469" cy="4145371"/>
          </a:xfrm>
          <a:prstGeom prst="rect">
            <a:avLst/>
          </a:prstGeom>
          <a:noFill/>
          <a:ln/>
        </p:spPr>
        <p:txBody>
          <a:bodyPr wrap="square" lIns="0" tIns="0" rIns="0" bIns="0" rtlCol="0" anchor="t"/>
          <a:lstStyle>
            <a:lvl1pPr marL="0" indent="0" algn="l">
              <a:lnSpc>
                <a:spcPct val="140000"/>
              </a:lnSpc>
              <a:buNone/>
              <a:defRPr lang="en-US" sz="1600" dirty="0">
                <a:solidFill>
                  <a:srgbClr val="503156"/>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7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31" y="1127668"/>
            <a:ext cx="10566453" cy="467361"/>
          </a:xfrm>
          <a:prstGeom prst="rect">
            <a:avLst/>
          </a:prstGeom>
          <a:noFill/>
          <a:ln/>
        </p:spPr>
        <p:txBody>
          <a:bodyPr wrap="square" lIns="0" tIns="0" rIns="0" bIns="0" rtlCol="0" anchor="t"/>
          <a:lstStyle>
            <a:lvl1pPr marL="0" indent="0" algn="l">
              <a:lnSpc>
                <a:spcPct val="115000"/>
              </a:lnSpc>
              <a:buNone/>
              <a:defRPr lang="en-US" sz="3200" dirty="0">
                <a:solidFill>
                  <a:srgbClr val="503156"/>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31" y="1899829"/>
            <a:ext cx="10566469" cy="4145371"/>
          </a:xfrm>
          <a:prstGeom prst="rect">
            <a:avLst/>
          </a:prstGeom>
          <a:noFill/>
          <a:ln/>
        </p:spPr>
        <p:txBody>
          <a:bodyPr wrap="square" lIns="0" tIns="0" rIns="0" bIns="0" rtlCol="0" anchor="t"/>
          <a:lstStyle>
            <a:lvl1pPr marL="0" indent="0" algn="l">
              <a:lnSpc>
                <a:spcPct val="140000"/>
              </a:lnSpc>
              <a:buNone/>
              <a:defRPr lang="en-US" sz="1600" dirty="0">
                <a:solidFill>
                  <a:srgbClr val="503156"/>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03156"/>
        </a:solidFill>
        <a:effectLst/>
      </p:bgPr>
    </p:bg>
    <p:spTree>
      <p:nvGrpSpPr>
        <p:cNvPr id="1" name=""/>
        <p:cNvGrpSpPr/>
        <p:nvPr/>
      </p:nvGrpSpPr>
      <p:grpSpPr>
        <a:xfrm>
          <a:off x="0" y="0"/>
          <a:ext cx="0" cy="0"/>
          <a:chOff x="0" y="0"/>
          <a:chExt cx="0" cy="0"/>
        </a:xfrm>
      </p:grpSpPr>
      <p:sp>
        <p:nvSpPr>
          <p:cNvPr id="2" name="Text 0"/>
          <p:cNvSpPr/>
          <p:nvPr/>
        </p:nvSpPr>
        <p:spPr>
          <a:xfrm>
            <a:off x="812731" y="812731"/>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CD8C1"/>
                </a:solidFill>
                <a:latin typeface="IBM Plex Sans" pitchFamily="34" charset="0"/>
                <a:ea typeface="IBM Plex Sans" pitchFamily="34" charset="-122"/>
                <a:cs typeface="IBM Plex Sans" pitchFamily="34" charset="-120"/>
              </a:rPr>
              <a:t>UE24CS352A MACHINE LEARNING, MINI-PROJECT 16</a:t>
            </a:r>
            <a:endParaRPr lang="en-US" sz="1200" dirty="0"/>
          </a:p>
        </p:txBody>
      </p:sp>
      <p:sp>
        <p:nvSpPr>
          <p:cNvPr id="3" name="Text 1"/>
          <p:cNvSpPr>
            <a:spLocks noGrp="1"/>
          </p:cNvSpPr>
          <p:nvPr>
            <p:ph type="title"/>
          </p:nvPr>
        </p:nvSpPr>
        <p:spPr>
          <a:xfrm>
            <a:off x="812731" y="1280092"/>
            <a:ext cx="9156651" cy="1427397"/>
          </a:xfrm>
          <a:prstGeom prst="rect">
            <a:avLst/>
          </a:prstGeom>
          <a:noFill/>
          <a:ln/>
        </p:spPr>
        <p:txBody>
          <a:bodyPr wrap="square" lIns="0" tIns="0" rIns="0" bIns="0" rtlCol="0" anchor="t">
            <a:normAutofit/>
          </a:bodyPr>
          <a:lstStyle/>
          <a:p>
            <a:pPr marL="0" indent="0" algn="l">
              <a:lnSpc>
                <a:spcPts val="5520"/>
              </a:lnSpc>
              <a:buNone/>
            </a:pPr>
            <a:r>
              <a:rPr lang="en-US" sz="4800" b="1" i="0" dirty="0">
                <a:solidFill>
                  <a:srgbClr val="FCF7F8"/>
                </a:solidFill>
                <a:latin typeface="Libre Baskerville" pitchFamily="18" charset="0"/>
                <a:ea typeface="Libre Baskerville" pitchFamily="18" charset="-122"/>
                <a:cs typeface="Libre Baskerville" pitchFamily="18" charset="-120"/>
              </a:rPr>
              <a:t>Can a computer spot a hit song?</a:t>
            </a:r>
            <a:endParaRPr lang="en-US" sz="4800" dirty="0"/>
          </a:p>
        </p:txBody>
      </p:sp>
      <p:sp>
        <p:nvSpPr>
          <p:cNvPr id="4" name="Text 2"/>
          <p:cNvSpPr/>
          <p:nvPr/>
        </p:nvSpPr>
        <p:spPr>
          <a:xfrm>
            <a:off x="812731" y="2936073"/>
            <a:ext cx="8502598" cy="711095"/>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BCD8C1"/>
                </a:solidFill>
                <a:latin typeface="IBM Plex Sans" pitchFamily="34" charset="0"/>
                <a:ea typeface="IBM Plex Sans" pitchFamily="34" charset="-122"/>
                <a:cs typeface="IBM Plex Sans" pitchFamily="34" charset="-120"/>
              </a:rPr>
              <a:t>We rebuilt and improved HitPredict, a Stanford study that predicts Billboard Hot 100 hits from Spotify data.</a:t>
            </a:r>
            <a:endParaRPr lang="en-US" sz="2000" dirty="0"/>
          </a:p>
        </p:txBody>
      </p:sp>
      <p:sp>
        <p:nvSpPr>
          <p:cNvPr id="5" name="Text 3"/>
          <p:cNvSpPr/>
          <p:nvPr/>
        </p:nvSpPr>
        <p:spPr>
          <a:xfrm>
            <a:off x="812731" y="5778586"/>
            <a:ext cx="10883447"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CF7F8"/>
                </a:solidFill>
                <a:latin typeface="IBM Plex Sans" pitchFamily="34" charset="0"/>
                <a:ea typeface="IBM Plex Sans" pitchFamily="34" charset="-122"/>
                <a:cs typeface="IBM Plex Sans" pitchFamily="34" charset="-120"/>
              </a:rPr>
              <a:t>[Patruni Vishnu , PES1UG24AM187] and [Piyush G Nadgir ,PES1UG24AM190]</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1"/>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731" y="1127667"/>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Will this song reach the Hot 100?</a:t>
            </a:r>
            <a:endParaRPr lang="en-US" sz="3200" dirty="0"/>
          </a:p>
        </p:txBody>
      </p:sp>
      <p:sp>
        <p:nvSpPr>
          <p:cNvPr id="4" name="Shape 2"/>
          <p:cNvSpPr/>
          <p:nvPr/>
        </p:nvSpPr>
        <p:spPr>
          <a:xfrm>
            <a:off x="812731" y="1899792"/>
            <a:ext cx="3386740" cy="2514274"/>
          </a:xfrm>
          <a:prstGeom prst="roundRect">
            <a:avLst>
              <a:gd name="adj" fmla="val 4041"/>
            </a:avLst>
          </a:prstGeom>
          <a:solidFill>
            <a:srgbClr val="F3E9EE"/>
          </a:solidFill>
          <a:ln/>
        </p:spPr>
      </p:sp>
      <p:pic>
        <p:nvPicPr>
          <p:cNvPr id="5" name="Image 0" descr="Activity"/>
          <p:cNvPicPr>
            <a:picLocks noChangeAspect="1"/>
          </p:cNvPicPr>
          <p:nvPr/>
        </p:nvPicPr>
        <p:blipFill>
          <a:blip r:embed="rId3"/>
          <a:srcRect/>
          <a:stretch/>
        </p:blipFill>
        <p:spPr>
          <a:xfrm>
            <a:off x="1117494" y="2204555"/>
            <a:ext cx="355542" cy="355542"/>
          </a:xfrm>
          <a:prstGeom prst="rect">
            <a:avLst/>
          </a:prstGeom>
        </p:spPr>
      </p:pic>
      <p:sp>
        <p:nvSpPr>
          <p:cNvPr id="6" name="Text 3"/>
          <p:cNvSpPr/>
          <p:nvPr/>
        </p:nvSpPr>
        <p:spPr>
          <a:xfrm>
            <a:off x="1117494" y="2687045"/>
            <a:ext cx="2860530"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What goes in</a:t>
            </a:r>
            <a:endParaRPr lang="en-US" sz="1500" dirty="0"/>
          </a:p>
        </p:txBody>
      </p:sp>
      <p:sp>
        <p:nvSpPr>
          <p:cNvPr id="7" name="Text 4"/>
          <p:cNvSpPr/>
          <p:nvPr/>
        </p:nvSpPr>
        <p:spPr>
          <a:xfrm>
            <a:off x="1117494" y="3042588"/>
            <a:ext cx="2860530" cy="109211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Spotify's measurements of the sound, like how danceable or energetic it is, plus one fact: has the artist had a hit before?</a:t>
            </a:r>
            <a:endParaRPr lang="en-US" sz="1500" dirty="0"/>
          </a:p>
        </p:txBody>
      </p:sp>
      <p:sp>
        <p:nvSpPr>
          <p:cNvPr id="8" name="Shape 5"/>
          <p:cNvSpPr/>
          <p:nvPr/>
        </p:nvSpPr>
        <p:spPr>
          <a:xfrm>
            <a:off x="4402587" y="1899792"/>
            <a:ext cx="3386740" cy="2514274"/>
          </a:xfrm>
          <a:prstGeom prst="roundRect">
            <a:avLst>
              <a:gd name="adj" fmla="val 4041"/>
            </a:avLst>
          </a:prstGeom>
          <a:solidFill>
            <a:srgbClr val="F3E9EE"/>
          </a:solidFill>
          <a:ln/>
        </p:spPr>
      </p:sp>
      <p:pic>
        <p:nvPicPr>
          <p:cNvPr id="9" name="Image 1" descr="Star"/>
          <p:cNvPicPr>
            <a:picLocks noChangeAspect="1"/>
          </p:cNvPicPr>
          <p:nvPr/>
        </p:nvPicPr>
        <p:blipFill>
          <a:blip r:embed="rId4"/>
          <a:srcRect/>
          <a:stretch/>
        </p:blipFill>
        <p:spPr>
          <a:xfrm>
            <a:off x="4707351" y="2204555"/>
            <a:ext cx="355542" cy="355542"/>
          </a:xfrm>
          <a:prstGeom prst="rect">
            <a:avLst/>
          </a:prstGeom>
        </p:spPr>
      </p:pic>
      <p:sp>
        <p:nvSpPr>
          <p:cNvPr id="10" name="Text 6"/>
          <p:cNvSpPr/>
          <p:nvPr/>
        </p:nvSpPr>
        <p:spPr>
          <a:xfrm>
            <a:off x="4707351" y="2687045"/>
            <a:ext cx="2860530"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What comes out</a:t>
            </a:r>
            <a:endParaRPr lang="en-US" sz="1500" dirty="0"/>
          </a:p>
        </p:txBody>
      </p:sp>
      <p:sp>
        <p:nvSpPr>
          <p:cNvPr id="11" name="Text 7"/>
          <p:cNvSpPr/>
          <p:nvPr/>
        </p:nvSpPr>
        <p:spPr>
          <a:xfrm>
            <a:off x="4707351" y="3042588"/>
            <a:ext cx="2860530" cy="109211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A yes or no: will the song reach the Billboard Hot 100? The model also gives its confidence as a percentage.</a:t>
            </a:r>
            <a:endParaRPr lang="en-US" sz="1500" dirty="0"/>
          </a:p>
        </p:txBody>
      </p:sp>
      <p:sp>
        <p:nvSpPr>
          <p:cNvPr id="12" name="Shape 8"/>
          <p:cNvSpPr/>
          <p:nvPr/>
        </p:nvSpPr>
        <p:spPr>
          <a:xfrm>
            <a:off x="7992445" y="1899792"/>
            <a:ext cx="3386740" cy="2514274"/>
          </a:xfrm>
          <a:prstGeom prst="roundRect">
            <a:avLst>
              <a:gd name="adj" fmla="val 4041"/>
            </a:avLst>
          </a:prstGeom>
          <a:solidFill>
            <a:srgbClr val="F3E9EE"/>
          </a:solidFill>
          <a:ln/>
        </p:spPr>
      </p:sp>
      <p:pic>
        <p:nvPicPr>
          <p:cNvPr id="13" name="Image 2" descr="Lightbulb"/>
          <p:cNvPicPr>
            <a:picLocks noChangeAspect="1"/>
          </p:cNvPicPr>
          <p:nvPr/>
        </p:nvPicPr>
        <p:blipFill>
          <a:blip r:embed="rId5"/>
          <a:srcRect/>
          <a:stretch/>
        </p:blipFill>
        <p:spPr>
          <a:xfrm>
            <a:off x="8297208" y="2204555"/>
            <a:ext cx="355542" cy="355542"/>
          </a:xfrm>
          <a:prstGeom prst="rect">
            <a:avLst/>
          </a:prstGeom>
        </p:spPr>
      </p:pic>
      <p:sp>
        <p:nvSpPr>
          <p:cNvPr id="14" name="Text 9"/>
          <p:cNvSpPr/>
          <p:nvPr/>
        </p:nvSpPr>
        <p:spPr>
          <a:xfrm>
            <a:off x="8297208" y="2687045"/>
            <a:ext cx="2860530"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Why it matters</a:t>
            </a:r>
            <a:endParaRPr lang="en-US" sz="1500" dirty="0"/>
          </a:p>
        </p:txBody>
      </p:sp>
      <p:sp>
        <p:nvSpPr>
          <p:cNvPr id="15" name="Text 10"/>
          <p:cNvSpPr/>
          <p:nvPr/>
        </p:nvSpPr>
        <p:spPr>
          <a:xfrm>
            <a:off x="8297208" y="3042588"/>
            <a:ext cx="2860530" cy="109211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Labels spend real money promoting songs. A cheap first check helps them choose, and a false "hit" is the costly mistake.</a:t>
            </a:r>
            <a:endParaRPr lang="en-US" sz="1500" dirty="0"/>
          </a:p>
        </p:txBody>
      </p:sp>
      <p:sp>
        <p:nvSpPr>
          <p:cNvPr id="16" name="Text 11"/>
          <p:cNvSpPr/>
          <p:nvPr/>
        </p:nvSpPr>
        <p:spPr>
          <a:xfrm>
            <a:off x="812731" y="6238297"/>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17" name="Text 12"/>
          <p:cNvSpPr/>
          <p:nvPr/>
        </p:nvSpPr>
        <p:spPr>
          <a:xfrm>
            <a:off x="10058466" y="6238297"/>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WHERE WE STARTED</a:t>
            </a:r>
            <a:endParaRPr lang="en-US" sz="1200" dirty="0"/>
          </a:p>
        </p:txBody>
      </p:sp>
      <p:sp>
        <p:nvSpPr>
          <p:cNvPr id="3" name="Text 1"/>
          <p:cNvSpPr>
            <a:spLocks noGrp="1"/>
          </p:cNvSpPr>
          <p:nvPr>
            <p:ph type="title"/>
          </p:nvPr>
        </p:nvSpPr>
        <p:spPr>
          <a:xfrm>
            <a:off x="812731" y="1127668"/>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The reference paper and our goals</a:t>
            </a:r>
            <a:endParaRPr lang="en-US" sz="3200" dirty="0"/>
          </a:p>
        </p:txBody>
      </p:sp>
      <p:sp>
        <p:nvSpPr>
          <p:cNvPr id="4" name="Shape 2"/>
          <p:cNvSpPr/>
          <p:nvPr/>
        </p:nvSpPr>
        <p:spPr>
          <a:xfrm>
            <a:off x="812731" y="1899793"/>
            <a:ext cx="5181668" cy="3942269"/>
          </a:xfrm>
          <a:prstGeom prst="roundRect">
            <a:avLst>
              <a:gd name="adj" fmla="val 2577"/>
            </a:avLst>
          </a:prstGeom>
          <a:solidFill>
            <a:srgbClr val="F3E9EE"/>
          </a:solidFill>
          <a:ln/>
        </p:spPr>
      </p:sp>
      <p:sp>
        <p:nvSpPr>
          <p:cNvPr id="5" name="Text 3"/>
          <p:cNvSpPr/>
          <p:nvPr/>
        </p:nvSpPr>
        <p:spPr>
          <a:xfrm>
            <a:off x="1168273" y="2255334"/>
            <a:ext cx="4604701"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The paper: HitPredict (Stanford, 2018)</a:t>
            </a:r>
            <a:endParaRPr lang="en-US" sz="1500" dirty="0"/>
          </a:p>
        </p:txBody>
      </p:sp>
      <p:sp>
        <p:nvSpPr>
          <p:cNvPr id="6" name="Text 4"/>
          <p:cNvSpPr/>
          <p:nvPr/>
        </p:nvSpPr>
        <p:spPr>
          <a:xfrm>
            <a:off x="1239393" y="2661656"/>
            <a:ext cx="4525961" cy="1168283"/>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About 4,000 songs from 1990 to 2018</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Five methods, from a simple formula to a small neural network</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Best result: about 76% of songs called correctly</a:t>
            </a:r>
            <a:endParaRPr lang="en-US" sz="1500" dirty="0"/>
          </a:p>
        </p:txBody>
      </p:sp>
      <p:sp>
        <p:nvSpPr>
          <p:cNvPr id="7" name="Shape 5"/>
          <p:cNvSpPr/>
          <p:nvPr/>
        </p:nvSpPr>
        <p:spPr>
          <a:xfrm>
            <a:off x="6197516" y="1899793"/>
            <a:ext cx="5181668" cy="3942269"/>
          </a:xfrm>
          <a:prstGeom prst="roundRect">
            <a:avLst>
              <a:gd name="adj" fmla="val 2577"/>
            </a:avLst>
          </a:prstGeom>
          <a:solidFill>
            <a:srgbClr val="503156"/>
          </a:solidFill>
          <a:ln/>
        </p:spPr>
      </p:sp>
      <p:sp>
        <p:nvSpPr>
          <p:cNvPr id="8" name="Text 6"/>
          <p:cNvSpPr/>
          <p:nvPr/>
        </p:nvSpPr>
        <p:spPr>
          <a:xfrm>
            <a:off x="6553059" y="2255334"/>
            <a:ext cx="4604701"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CF7F8"/>
                </a:solidFill>
                <a:latin typeface="IBM Plex Sans" pitchFamily="34" charset="0"/>
                <a:ea typeface="IBM Plex Sans" pitchFamily="34" charset="-122"/>
                <a:cs typeface="IBM Plex Sans" pitchFamily="34" charset="-120"/>
              </a:rPr>
              <a:t>Our goals</a:t>
            </a:r>
            <a:endParaRPr lang="en-US" sz="1500" dirty="0"/>
          </a:p>
        </p:txBody>
      </p:sp>
      <p:sp>
        <p:nvSpPr>
          <p:cNvPr id="9" name="Text 7"/>
          <p:cNvSpPr/>
          <p:nvPr/>
        </p:nvSpPr>
        <p:spPr>
          <a:xfrm>
            <a:off x="6624179" y="2661656"/>
            <a:ext cx="4525961" cy="882563"/>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FCF7F8"/>
                </a:solidFill>
                <a:latin typeface="IBM Plex Sans" pitchFamily="34" charset="0"/>
                <a:ea typeface="IBM Plex Sans" pitchFamily="34" charset="-122"/>
                <a:cs typeface="IBM Plex Sans" pitchFamily="34" charset="-120"/>
              </a:rPr>
              <a:t>Repeat every experiment in the paper</a:t>
            </a:r>
            <a:endParaRPr lang="en-US" sz="1500" dirty="0"/>
          </a:p>
          <a:p>
            <a:pPr marL="182880" indent="-182880" algn="l">
              <a:lnSpc>
                <a:spcPts val="2250"/>
              </a:lnSpc>
              <a:buSzPct val="100000"/>
              <a:buChar char="•"/>
            </a:pPr>
            <a:r>
              <a:rPr lang="en-US" sz="1500" dirty="0">
                <a:solidFill>
                  <a:srgbClr val="FCF7F8"/>
                </a:solidFill>
                <a:latin typeface="IBM Plex Sans" pitchFamily="34" charset="0"/>
                <a:ea typeface="IBM Plex Sans" pitchFamily="34" charset="-122"/>
                <a:cs typeface="IBM Plex Sans" pitchFamily="34" charset="-120"/>
              </a:rPr>
              <a:t>Check that the testing was fair</a:t>
            </a:r>
            <a:endParaRPr lang="en-US" sz="1500" dirty="0"/>
          </a:p>
          <a:p>
            <a:pPr marL="182880" indent="-182880" algn="l">
              <a:lnSpc>
                <a:spcPts val="2250"/>
              </a:lnSpc>
              <a:buSzPct val="100000"/>
              <a:buChar char="•"/>
            </a:pPr>
            <a:r>
              <a:rPr lang="en-US" sz="1500" dirty="0">
                <a:solidFill>
                  <a:srgbClr val="FCF7F8"/>
                </a:solidFill>
                <a:latin typeface="IBM Plex Sans" pitchFamily="34" charset="0"/>
                <a:ea typeface="IBM Plex Sans" pitchFamily="34" charset="-122"/>
                <a:cs typeface="IBM Plex Sans" pitchFamily="34" charset="-120"/>
              </a:rPr>
              <a:t>Improve it, and explain why each change helps</a:t>
            </a:r>
            <a:endParaRPr lang="en-US" sz="1500" dirty="0"/>
          </a:p>
        </p:txBody>
      </p:sp>
      <p:sp>
        <p:nvSpPr>
          <p:cNvPr id="10" name="Text 8"/>
          <p:cNvSpPr/>
          <p:nvPr/>
        </p:nvSpPr>
        <p:spPr>
          <a:xfrm>
            <a:off x="812731" y="6238297"/>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11" name="Text 9"/>
          <p:cNvSpPr/>
          <p:nvPr/>
        </p:nvSpPr>
        <p:spPr>
          <a:xfrm>
            <a:off x="10058466" y="6238297"/>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THE DATA</a:t>
            </a:r>
            <a:endParaRPr lang="en-US" sz="1200" dirty="0"/>
          </a:p>
        </p:txBody>
      </p:sp>
      <p:sp>
        <p:nvSpPr>
          <p:cNvPr id="3" name="Text 1"/>
          <p:cNvSpPr>
            <a:spLocks noGrp="1"/>
          </p:cNvSpPr>
          <p:nvPr>
            <p:ph type="title"/>
          </p:nvPr>
        </p:nvSpPr>
        <p:spPr>
          <a:xfrm>
            <a:off x="812731" y="1127668"/>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4,019 songs from the authors' own files</a:t>
            </a:r>
            <a:endParaRPr lang="en-US" sz="3200" dirty="0"/>
          </a:p>
        </p:txBody>
      </p:sp>
      <p:sp>
        <p:nvSpPr>
          <p:cNvPr id="4" name="Text 2"/>
          <p:cNvSpPr/>
          <p:nvPr/>
        </p:nvSpPr>
        <p:spPr>
          <a:xfrm>
            <a:off x="812731" y="1899793"/>
            <a:ext cx="3401021" cy="695966"/>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A31621"/>
                </a:solidFill>
                <a:latin typeface="Libre Baskerville" pitchFamily="18" charset="0"/>
                <a:ea typeface="Libre Baskerville" pitchFamily="18" charset="-122"/>
                <a:cs typeface="Libre Baskerville" pitchFamily="18" charset="-120"/>
              </a:rPr>
              <a:t>1,595</a:t>
            </a:r>
            <a:endParaRPr lang="en-US" sz="4800" dirty="0"/>
          </a:p>
        </p:txBody>
      </p:sp>
      <p:sp>
        <p:nvSpPr>
          <p:cNvPr id="5" name="Text 3"/>
          <p:cNvSpPr/>
          <p:nvPr/>
        </p:nvSpPr>
        <p:spPr>
          <a:xfrm>
            <a:off x="812731" y="2595747"/>
            <a:ext cx="3401021"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of them were Hot 100 hits (40%)</a:t>
            </a:r>
            <a:endParaRPr lang="en-US" sz="1500" dirty="0"/>
          </a:p>
        </p:txBody>
      </p:sp>
      <p:sp>
        <p:nvSpPr>
          <p:cNvPr id="6" name="Text 4"/>
          <p:cNvSpPr/>
          <p:nvPr/>
        </p:nvSpPr>
        <p:spPr>
          <a:xfrm>
            <a:off x="812731" y="3040154"/>
            <a:ext cx="3401021" cy="1366532"/>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503156"/>
                </a:solidFill>
                <a:latin typeface="Libre Baskerville" pitchFamily="18" charset="0"/>
                <a:ea typeface="Libre Baskerville" pitchFamily="18" charset="-122"/>
                <a:cs typeface="Libre Baskerville" pitchFamily="18" charset="-120"/>
              </a:rPr>
              <a:t>1990-2018</a:t>
            </a:r>
            <a:endParaRPr lang="en-US" sz="4800" dirty="0"/>
          </a:p>
        </p:txBody>
      </p:sp>
      <p:sp>
        <p:nvSpPr>
          <p:cNvPr id="7" name="Text 5"/>
          <p:cNvSpPr/>
          <p:nvPr/>
        </p:nvSpPr>
        <p:spPr>
          <a:xfrm>
            <a:off x="812731" y="4406675"/>
            <a:ext cx="3401021"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release years covered</a:t>
            </a:r>
            <a:endParaRPr lang="en-US" sz="1500" dirty="0"/>
          </a:p>
        </p:txBody>
      </p:sp>
      <p:sp>
        <p:nvSpPr>
          <p:cNvPr id="8" name="Text 6"/>
          <p:cNvSpPr/>
          <p:nvPr/>
        </p:nvSpPr>
        <p:spPr>
          <a:xfrm>
            <a:off x="4622660" y="1899793"/>
            <a:ext cx="6959220"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What we know about each song</a:t>
            </a:r>
            <a:endParaRPr lang="en-US" sz="1500" dirty="0"/>
          </a:p>
        </p:txBody>
      </p:sp>
      <p:sp>
        <p:nvSpPr>
          <p:cNvPr id="9" name="Text 7"/>
          <p:cNvSpPr/>
          <p:nvPr/>
        </p:nvSpPr>
        <p:spPr>
          <a:xfrm>
            <a:off x="4622660" y="2306114"/>
            <a:ext cx="1388259"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Danceability</a:t>
            </a:r>
            <a:endParaRPr lang="en-US" sz="1500" dirty="0"/>
          </a:p>
        </p:txBody>
      </p:sp>
      <p:sp>
        <p:nvSpPr>
          <p:cNvPr id="10" name="Text 8"/>
          <p:cNvSpPr/>
          <p:nvPr/>
        </p:nvSpPr>
        <p:spPr>
          <a:xfrm>
            <a:off x="6112478" y="2306114"/>
            <a:ext cx="916028"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Energy</a:t>
            </a:r>
            <a:endParaRPr lang="en-US" sz="1500" dirty="0"/>
          </a:p>
        </p:txBody>
      </p:sp>
      <p:sp>
        <p:nvSpPr>
          <p:cNvPr id="11" name="Text 9"/>
          <p:cNvSpPr/>
          <p:nvPr/>
        </p:nvSpPr>
        <p:spPr>
          <a:xfrm>
            <a:off x="7130065" y="2306114"/>
            <a:ext cx="1146187"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Loudness</a:t>
            </a:r>
            <a:endParaRPr lang="en-US" sz="1500" dirty="0"/>
          </a:p>
        </p:txBody>
      </p:sp>
      <p:sp>
        <p:nvSpPr>
          <p:cNvPr id="12" name="Text 10"/>
          <p:cNvSpPr/>
          <p:nvPr/>
        </p:nvSpPr>
        <p:spPr>
          <a:xfrm>
            <a:off x="8377811" y="2306114"/>
            <a:ext cx="914724"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Tempo</a:t>
            </a:r>
            <a:endParaRPr lang="en-US" sz="1500" dirty="0"/>
          </a:p>
        </p:txBody>
      </p:sp>
      <p:sp>
        <p:nvSpPr>
          <p:cNvPr id="13" name="Text 11"/>
          <p:cNvSpPr/>
          <p:nvPr/>
        </p:nvSpPr>
        <p:spPr>
          <a:xfrm>
            <a:off x="9394094" y="2306114"/>
            <a:ext cx="1668676"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Valence (mood)</a:t>
            </a:r>
            <a:endParaRPr lang="en-US" sz="1500" dirty="0"/>
          </a:p>
        </p:txBody>
      </p:sp>
      <p:sp>
        <p:nvSpPr>
          <p:cNvPr id="14" name="Text 12"/>
          <p:cNvSpPr/>
          <p:nvPr/>
        </p:nvSpPr>
        <p:spPr>
          <a:xfrm>
            <a:off x="4622660" y="2801300"/>
            <a:ext cx="1460602"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Acousticness</a:t>
            </a:r>
            <a:endParaRPr lang="en-US" sz="1500" dirty="0"/>
          </a:p>
        </p:txBody>
      </p:sp>
      <p:sp>
        <p:nvSpPr>
          <p:cNvPr id="15" name="Text 13"/>
          <p:cNvSpPr/>
          <p:nvPr/>
        </p:nvSpPr>
        <p:spPr>
          <a:xfrm>
            <a:off x="6184821" y="2801300"/>
            <a:ext cx="1409214"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Speechiness</a:t>
            </a:r>
            <a:endParaRPr lang="en-US" sz="1500" dirty="0"/>
          </a:p>
        </p:txBody>
      </p:sp>
      <p:sp>
        <p:nvSpPr>
          <p:cNvPr id="16" name="Text 14"/>
          <p:cNvSpPr/>
          <p:nvPr/>
        </p:nvSpPr>
        <p:spPr>
          <a:xfrm>
            <a:off x="7695594" y="2801300"/>
            <a:ext cx="1847534"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Instrumentalness</a:t>
            </a:r>
            <a:endParaRPr lang="en-US" sz="1500" dirty="0"/>
          </a:p>
        </p:txBody>
      </p:sp>
      <p:sp>
        <p:nvSpPr>
          <p:cNvPr id="17" name="Text 15"/>
          <p:cNvSpPr/>
          <p:nvPr/>
        </p:nvSpPr>
        <p:spPr>
          <a:xfrm>
            <a:off x="9644686" y="2801300"/>
            <a:ext cx="1067062" cy="393627"/>
          </a:xfrm>
          <a:prstGeom prst="roundRect">
            <a:avLst>
              <a:gd name="adj" fmla="val 50000"/>
            </a:avLst>
          </a:prstGeom>
          <a:solidFill>
            <a:srgbClr val="BCD8C1"/>
          </a:solidFill>
          <a:ln/>
        </p:spPr>
        <p:txBody>
          <a:bodyPr wrap="none" lIns="0" tIns="0" rIns="0" bIns="0" rtlCol="0" anchor="ctr">
            <a:normAutofit/>
          </a:bodyPr>
          <a:lstStyle/>
          <a:p>
            <a:pPr marL="0" indent="0" algn="ctr">
              <a:lnSpc>
                <a:spcPts val="2100"/>
              </a:lnSpc>
              <a:buNone/>
            </a:pPr>
            <a:r>
              <a:rPr lang="en-US" sz="1500" dirty="0">
                <a:solidFill>
                  <a:srgbClr val="2E1C31"/>
                </a:solidFill>
                <a:latin typeface="IBM Plex Sans" pitchFamily="34" charset="0"/>
                <a:ea typeface="IBM Plex Sans" pitchFamily="34" charset="-122"/>
                <a:cs typeface="IBM Plex Sans" pitchFamily="34" charset="-120"/>
              </a:rPr>
              <a:t>Liveness</a:t>
            </a:r>
            <a:endParaRPr lang="en-US" sz="1500" dirty="0"/>
          </a:p>
        </p:txBody>
      </p:sp>
      <p:sp>
        <p:nvSpPr>
          <p:cNvPr id="18" name="Text 16"/>
          <p:cNvSpPr/>
          <p:nvPr/>
        </p:nvSpPr>
        <p:spPr>
          <a:xfrm>
            <a:off x="4622660" y="3296486"/>
            <a:ext cx="2835558" cy="393627"/>
          </a:xfrm>
          <a:prstGeom prst="roundRect">
            <a:avLst>
              <a:gd name="adj" fmla="val 50000"/>
            </a:avLst>
          </a:prstGeom>
          <a:solidFill>
            <a:srgbClr val="503156"/>
          </a:solidFill>
          <a:ln/>
        </p:spPr>
        <p:txBody>
          <a:bodyPr wrap="none" lIns="0" tIns="0" rIns="0" bIns="0" rtlCol="0" anchor="ctr">
            <a:normAutofit/>
          </a:bodyPr>
          <a:lstStyle/>
          <a:p>
            <a:pPr marL="0" indent="0" algn="ctr">
              <a:lnSpc>
                <a:spcPts val="2100"/>
              </a:lnSpc>
              <a:buNone/>
            </a:pPr>
            <a:r>
              <a:rPr lang="en-US" sz="1500" dirty="0">
                <a:solidFill>
                  <a:srgbClr val="FCF7F8"/>
                </a:solidFill>
                <a:latin typeface="IBM Plex Sans" pitchFamily="34" charset="0"/>
                <a:ea typeface="IBM Plex Sans" pitchFamily="34" charset="-122"/>
                <a:cs typeface="IBM Plex Sans" pitchFamily="34" charset="-120"/>
              </a:rPr>
              <a:t>Artist score: had a hit before?</a:t>
            </a:r>
            <a:endParaRPr lang="en-US" sz="1500" dirty="0"/>
          </a:p>
        </p:txBody>
      </p:sp>
      <p:sp>
        <p:nvSpPr>
          <p:cNvPr id="19" name="Text 17"/>
          <p:cNvSpPr/>
          <p:nvPr/>
        </p:nvSpPr>
        <p:spPr>
          <a:xfrm>
            <a:off x="4622660" y="3867840"/>
            <a:ext cx="6959220" cy="467285"/>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5A6E"/>
                </a:solidFill>
                <a:latin typeface="IBM Plex Sans" pitchFamily="34" charset="0"/>
                <a:ea typeface="IBM Plex Sans" pitchFamily="34" charset="-122"/>
                <a:cs typeface="IBM Plex Sans" pitchFamily="34" charset="-120"/>
              </a:rPr>
              <a:t>Spotify closed this data feed to new apps in 2024, so the authors' files are the only copy. Our script downloads them and checks they are unchanged.</a:t>
            </a:r>
            <a:endParaRPr lang="en-US" sz="1200" dirty="0"/>
          </a:p>
        </p:txBody>
      </p:sp>
      <p:sp>
        <p:nvSpPr>
          <p:cNvPr id="20" name="Text 18"/>
          <p:cNvSpPr/>
          <p:nvPr/>
        </p:nvSpPr>
        <p:spPr>
          <a:xfrm>
            <a:off x="812731" y="6238297"/>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21" name="Text 19"/>
          <p:cNvSpPr/>
          <p:nvPr/>
        </p:nvSpPr>
        <p:spPr>
          <a:xfrm>
            <a:off x="10058466" y="6238297"/>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THE PROCESS</a:t>
            </a:r>
            <a:endParaRPr lang="en-US" sz="1200" dirty="0"/>
          </a:p>
        </p:txBody>
      </p:sp>
      <p:sp>
        <p:nvSpPr>
          <p:cNvPr id="3" name="Text 1"/>
          <p:cNvSpPr>
            <a:spLocks noGrp="1"/>
          </p:cNvSpPr>
          <p:nvPr>
            <p:ph type="title"/>
          </p:nvPr>
        </p:nvSpPr>
        <p:spPr>
          <a:xfrm>
            <a:off x="812731" y="1127668"/>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Five steps from data to answer</a:t>
            </a:r>
            <a:endParaRPr lang="en-US" sz="3200" dirty="0"/>
          </a:p>
        </p:txBody>
      </p:sp>
      <p:sp>
        <p:nvSpPr>
          <p:cNvPr id="4" name="Shape 2"/>
          <p:cNvSpPr/>
          <p:nvPr/>
        </p:nvSpPr>
        <p:spPr>
          <a:xfrm>
            <a:off x="812731" y="1899791"/>
            <a:ext cx="1991351" cy="3942269"/>
          </a:xfrm>
          <a:prstGeom prst="roundRect">
            <a:avLst>
              <a:gd name="adj" fmla="val 5102"/>
            </a:avLst>
          </a:prstGeom>
          <a:solidFill>
            <a:srgbClr val="F3E9EE"/>
          </a:solidFill>
          <a:ln/>
        </p:spPr>
      </p:sp>
      <p:sp>
        <p:nvSpPr>
          <p:cNvPr id="5" name="Text 3"/>
          <p:cNvSpPr/>
          <p:nvPr/>
        </p:nvSpPr>
        <p:spPr>
          <a:xfrm>
            <a:off x="1041325" y="2128388"/>
            <a:ext cx="1584963" cy="47241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A31621"/>
                </a:solidFill>
                <a:latin typeface="Libre Baskerville" pitchFamily="18" charset="0"/>
                <a:ea typeface="Libre Baskerville" pitchFamily="18" charset="-122"/>
                <a:cs typeface="Libre Baskerville" pitchFamily="18" charset="-120"/>
              </a:rPr>
              <a:t>1</a:t>
            </a:r>
            <a:endParaRPr lang="en-US" sz="3200" dirty="0"/>
          </a:p>
        </p:txBody>
      </p:sp>
      <p:sp>
        <p:nvSpPr>
          <p:cNvPr id="6" name="Text 4"/>
          <p:cNvSpPr/>
          <p:nvPr/>
        </p:nvSpPr>
        <p:spPr>
          <a:xfrm>
            <a:off x="1041325" y="2689656"/>
            <a:ext cx="1584963"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Get the data</a:t>
            </a:r>
            <a:endParaRPr lang="en-US" sz="1500" dirty="0"/>
          </a:p>
        </p:txBody>
      </p:sp>
      <p:sp>
        <p:nvSpPr>
          <p:cNvPr id="7" name="Text 5"/>
          <p:cNvSpPr/>
          <p:nvPr/>
        </p:nvSpPr>
        <p:spPr>
          <a:xfrm>
            <a:off x="1041325" y="3032503"/>
            <a:ext cx="1584963" cy="109211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Download the authors' files and check they are complete.</a:t>
            </a:r>
            <a:endParaRPr lang="en-US" sz="1500" dirty="0"/>
          </a:p>
        </p:txBody>
      </p:sp>
      <p:sp>
        <p:nvSpPr>
          <p:cNvPr id="8" name="Shape 6"/>
          <p:cNvSpPr/>
          <p:nvPr/>
        </p:nvSpPr>
        <p:spPr>
          <a:xfrm>
            <a:off x="2956419" y="1899791"/>
            <a:ext cx="1991438" cy="3942269"/>
          </a:xfrm>
          <a:prstGeom prst="roundRect">
            <a:avLst>
              <a:gd name="adj" fmla="val 5102"/>
            </a:avLst>
          </a:prstGeom>
          <a:solidFill>
            <a:srgbClr val="F3E9EE"/>
          </a:solidFill>
          <a:ln/>
        </p:spPr>
      </p:sp>
      <p:sp>
        <p:nvSpPr>
          <p:cNvPr id="9" name="Text 7"/>
          <p:cNvSpPr/>
          <p:nvPr/>
        </p:nvSpPr>
        <p:spPr>
          <a:xfrm>
            <a:off x="3185013" y="2128388"/>
            <a:ext cx="1585050" cy="47241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A31621"/>
                </a:solidFill>
                <a:latin typeface="Libre Baskerville" pitchFamily="18" charset="0"/>
                <a:ea typeface="Libre Baskerville" pitchFamily="18" charset="-122"/>
                <a:cs typeface="Libre Baskerville" pitchFamily="18" charset="-120"/>
              </a:rPr>
              <a:t>2</a:t>
            </a:r>
            <a:endParaRPr lang="en-US" sz="3200" dirty="0"/>
          </a:p>
        </p:txBody>
      </p:sp>
      <p:sp>
        <p:nvSpPr>
          <p:cNvPr id="10" name="Text 8"/>
          <p:cNvSpPr/>
          <p:nvPr/>
        </p:nvSpPr>
        <p:spPr>
          <a:xfrm>
            <a:off x="3185013" y="2689656"/>
            <a:ext cx="1585050"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Rerun the paper</a:t>
            </a:r>
            <a:endParaRPr lang="en-US" sz="1500" dirty="0"/>
          </a:p>
        </p:txBody>
      </p:sp>
      <p:sp>
        <p:nvSpPr>
          <p:cNvPr id="11" name="Text 9"/>
          <p:cNvSpPr/>
          <p:nvPr/>
        </p:nvSpPr>
        <p:spPr>
          <a:xfrm>
            <a:off x="3185013" y="3032503"/>
            <a:ext cx="1585050" cy="82543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Same split, same settings, same features.</a:t>
            </a:r>
            <a:endParaRPr lang="en-US" sz="1500" dirty="0"/>
          </a:p>
        </p:txBody>
      </p:sp>
      <p:sp>
        <p:nvSpPr>
          <p:cNvPr id="12" name="Shape 10"/>
          <p:cNvSpPr/>
          <p:nvPr/>
        </p:nvSpPr>
        <p:spPr>
          <a:xfrm>
            <a:off x="5100195" y="1899791"/>
            <a:ext cx="1991438" cy="3942269"/>
          </a:xfrm>
          <a:prstGeom prst="roundRect">
            <a:avLst>
              <a:gd name="adj" fmla="val 5102"/>
            </a:avLst>
          </a:prstGeom>
          <a:solidFill>
            <a:srgbClr val="F3E9EE"/>
          </a:solidFill>
          <a:ln/>
        </p:spPr>
      </p:sp>
      <p:sp>
        <p:nvSpPr>
          <p:cNvPr id="13" name="Text 11"/>
          <p:cNvSpPr/>
          <p:nvPr/>
        </p:nvSpPr>
        <p:spPr>
          <a:xfrm>
            <a:off x="5328789" y="2128388"/>
            <a:ext cx="1585050" cy="47241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A31621"/>
                </a:solidFill>
                <a:latin typeface="Libre Baskerville" pitchFamily="18" charset="0"/>
                <a:ea typeface="Libre Baskerville" pitchFamily="18" charset="-122"/>
                <a:cs typeface="Libre Baskerville" pitchFamily="18" charset="-120"/>
              </a:rPr>
              <a:t>3</a:t>
            </a:r>
            <a:endParaRPr lang="en-US" sz="3200" dirty="0"/>
          </a:p>
        </p:txBody>
      </p:sp>
      <p:sp>
        <p:nvSpPr>
          <p:cNvPr id="14" name="Text 12"/>
          <p:cNvSpPr/>
          <p:nvPr/>
        </p:nvSpPr>
        <p:spPr>
          <a:xfrm>
            <a:off x="5328789" y="2689656"/>
            <a:ext cx="1585050"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Test fairly</a:t>
            </a:r>
            <a:endParaRPr lang="en-US" sz="1500" dirty="0"/>
          </a:p>
        </p:txBody>
      </p:sp>
      <p:sp>
        <p:nvSpPr>
          <p:cNvPr id="15" name="Text 13"/>
          <p:cNvSpPr/>
          <p:nvPr/>
        </p:nvSpPr>
        <p:spPr>
          <a:xfrm>
            <a:off x="5328789" y="3032503"/>
            <a:ext cx="1585050" cy="109211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Keep whole artists out of training for the final test.</a:t>
            </a:r>
            <a:endParaRPr lang="en-US" sz="1500" dirty="0"/>
          </a:p>
        </p:txBody>
      </p:sp>
      <p:sp>
        <p:nvSpPr>
          <p:cNvPr id="16" name="Shape 14"/>
          <p:cNvSpPr/>
          <p:nvPr/>
        </p:nvSpPr>
        <p:spPr>
          <a:xfrm>
            <a:off x="7243971" y="1899791"/>
            <a:ext cx="1991438" cy="3942269"/>
          </a:xfrm>
          <a:prstGeom prst="roundRect">
            <a:avLst>
              <a:gd name="adj" fmla="val 5102"/>
            </a:avLst>
          </a:prstGeom>
          <a:solidFill>
            <a:srgbClr val="F3E9EE"/>
          </a:solidFill>
          <a:ln/>
        </p:spPr>
      </p:sp>
      <p:sp>
        <p:nvSpPr>
          <p:cNvPr id="17" name="Text 15"/>
          <p:cNvSpPr/>
          <p:nvPr/>
        </p:nvSpPr>
        <p:spPr>
          <a:xfrm>
            <a:off x="7472565" y="2128388"/>
            <a:ext cx="1585050" cy="47241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A31621"/>
                </a:solidFill>
                <a:latin typeface="Libre Baskerville" pitchFamily="18" charset="0"/>
                <a:ea typeface="Libre Baskerville" pitchFamily="18" charset="-122"/>
                <a:cs typeface="Libre Baskerville" pitchFamily="18" charset="-120"/>
              </a:rPr>
              <a:t>4</a:t>
            </a:r>
            <a:endParaRPr lang="en-US" sz="3200" dirty="0"/>
          </a:p>
        </p:txBody>
      </p:sp>
      <p:sp>
        <p:nvSpPr>
          <p:cNvPr id="18" name="Text 16"/>
          <p:cNvSpPr/>
          <p:nvPr/>
        </p:nvSpPr>
        <p:spPr>
          <a:xfrm>
            <a:off x="7472565" y="2689656"/>
            <a:ext cx="1762844"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Compare models</a:t>
            </a:r>
            <a:endParaRPr lang="en-US" sz="1500" dirty="0"/>
          </a:p>
        </p:txBody>
      </p:sp>
      <p:sp>
        <p:nvSpPr>
          <p:cNvPr id="19" name="Text 17"/>
          <p:cNvSpPr/>
          <p:nvPr/>
        </p:nvSpPr>
        <p:spPr>
          <a:xfrm>
            <a:off x="7472565" y="3032503"/>
            <a:ext cx="1585050" cy="109211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Thirteen methods, from simple rules to tree ensembles.</a:t>
            </a:r>
            <a:endParaRPr lang="en-US" sz="1500" dirty="0"/>
          </a:p>
        </p:txBody>
      </p:sp>
      <p:sp>
        <p:nvSpPr>
          <p:cNvPr id="20" name="Shape 18"/>
          <p:cNvSpPr/>
          <p:nvPr/>
        </p:nvSpPr>
        <p:spPr>
          <a:xfrm>
            <a:off x="9387746" y="1899791"/>
            <a:ext cx="1991438" cy="3942269"/>
          </a:xfrm>
          <a:prstGeom prst="roundRect">
            <a:avLst>
              <a:gd name="adj" fmla="val 5102"/>
            </a:avLst>
          </a:prstGeom>
          <a:solidFill>
            <a:srgbClr val="503156"/>
          </a:solidFill>
          <a:ln/>
        </p:spPr>
      </p:sp>
      <p:sp>
        <p:nvSpPr>
          <p:cNvPr id="21" name="Text 19"/>
          <p:cNvSpPr/>
          <p:nvPr/>
        </p:nvSpPr>
        <p:spPr>
          <a:xfrm>
            <a:off x="9616341" y="2128388"/>
            <a:ext cx="1585050" cy="47241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CD8C1"/>
                </a:solidFill>
                <a:latin typeface="Libre Baskerville" pitchFamily="18" charset="0"/>
                <a:ea typeface="Libre Baskerville" pitchFamily="18" charset="-122"/>
                <a:cs typeface="Libre Baskerville" pitchFamily="18" charset="-120"/>
              </a:rPr>
              <a:t>5</a:t>
            </a:r>
            <a:endParaRPr lang="en-US" sz="3200" dirty="0"/>
          </a:p>
        </p:txBody>
      </p:sp>
      <p:sp>
        <p:nvSpPr>
          <p:cNvPr id="22" name="Text 20"/>
          <p:cNvSpPr/>
          <p:nvPr/>
        </p:nvSpPr>
        <p:spPr>
          <a:xfrm>
            <a:off x="9616341" y="2689656"/>
            <a:ext cx="1585050"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CF7F8"/>
                </a:solidFill>
                <a:latin typeface="IBM Plex Sans" pitchFamily="34" charset="0"/>
                <a:ea typeface="IBM Plex Sans" pitchFamily="34" charset="-122"/>
                <a:cs typeface="IBM Plex Sans" pitchFamily="34" charset="-120"/>
              </a:rPr>
              <a:t>Improve</a:t>
            </a:r>
            <a:endParaRPr lang="en-US" sz="1500" dirty="0"/>
          </a:p>
        </p:txBody>
      </p:sp>
      <p:sp>
        <p:nvSpPr>
          <p:cNvPr id="23" name="Text 21"/>
          <p:cNvSpPr/>
          <p:nvPr/>
        </p:nvSpPr>
        <p:spPr>
          <a:xfrm>
            <a:off x="9616341" y="3032503"/>
            <a:ext cx="1585050" cy="82543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CF7F8"/>
                </a:solidFill>
                <a:latin typeface="IBM Plex Sans" pitchFamily="34" charset="0"/>
                <a:ea typeface="IBM Plex Sans" pitchFamily="34" charset="-122"/>
                <a:cs typeface="IBM Plex Sans" pitchFamily="34" charset="-120"/>
              </a:rPr>
              <a:t>Four changes, added one at a time.</a:t>
            </a:r>
            <a:endParaRPr lang="en-US" sz="1500" dirty="0"/>
          </a:p>
        </p:txBody>
      </p:sp>
      <p:sp>
        <p:nvSpPr>
          <p:cNvPr id="24" name="Text 22"/>
          <p:cNvSpPr/>
          <p:nvPr/>
        </p:nvSpPr>
        <p:spPr>
          <a:xfrm>
            <a:off x="812731" y="6238298"/>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25" name="Text 23"/>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29"/>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FAIR TESTING</a:t>
            </a:r>
            <a:endParaRPr lang="en-US" sz="1200" dirty="0"/>
          </a:p>
        </p:txBody>
      </p:sp>
      <p:sp>
        <p:nvSpPr>
          <p:cNvPr id="3" name="Text 1"/>
          <p:cNvSpPr>
            <a:spLocks noGrp="1"/>
          </p:cNvSpPr>
          <p:nvPr>
            <p:ph type="title"/>
          </p:nvPr>
        </p:nvSpPr>
        <p:spPr>
          <a:xfrm>
            <a:off x="812731" y="1127668"/>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We test on artists the model never saw</a:t>
            </a:r>
            <a:endParaRPr lang="en-US" sz="3200" dirty="0"/>
          </a:p>
        </p:txBody>
      </p:sp>
      <p:sp>
        <p:nvSpPr>
          <p:cNvPr id="4" name="Shape 2"/>
          <p:cNvSpPr/>
          <p:nvPr/>
        </p:nvSpPr>
        <p:spPr>
          <a:xfrm>
            <a:off x="812731" y="1899791"/>
            <a:ext cx="7594644" cy="1556944"/>
          </a:xfrm>
          <a:prstGeom prst="roundRect">
            <a:avLst>
              <a:gd name="adj" fmla="val 6526"/>
            </a:avLst>
          </a:prstGeom>
          <a:solidFill>
            <a:srgbClr val="503156"/>
          </a:solidFill>
          <a:ln/>
        </p:spPr>
      </p:sp>
      <p:sp>
        <p:nvSpPr>
          <p:cNvPr id="5" name="Text 3"/>
          <p:cNvSpPr/>
          <p:nvPr/>
        </p:nvSpPr>
        <p:spPr>
          <a:xfrm>
            <a:off x="1066714" y="2153776"/>
            <a:ext cx="729927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CD8C1"/>
                </a:solidFill>
                <a:latin typeface="IBM Plex Sans" pitchFamily="34" charset="0"/>
                <a:ea typeface="IBM Plex Sans" pitchFamily="34" charset="-122"/>
                <a:cs typeface="IBM Plex Sans" pitchFamily="34" charset="-120"/>
              </a:rPr>
              <a:t>LEARN AND TUNE</a:t>
            </a:r>
            <a:endParaRPr lang="en-US" sz="1200" dirty="0"/>
          </a:p>
        </p:txBody>
      </p:sp>
      <p:sp>
        <p:nvSpPr>
          <p:cNvPr id="6" name="Text 4"/>
          <p:cNvSpPr/>
          <p:nvPr/>
        </p:nvSpPr>
        <p:spPr>
          <a:xfrm>
            <a:off x="1066714" y="2417933"/>
            <a:ext cx="7299277" cy="49276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CF7F8"/>
                </a:solidFill>
                <a:latin typeface="Libre Baskerville" pitchFamily="18" charset="0"/>
                <a:ea typeface="Libre Baskerville" pitchFamily="18" charset="-122"/>
                <a:cs typeface="Libre Baskerville" pitchFamily="18" charset="-120"/>
              </a:rPr>
              <a:t>3,015</a:t>
            </a:r>
            <a:endParaRPr lang="en-US" sz="3200" dirty="0"/>
          </a:p>
        </p:txBody>
      </p:sp>
      <p:sp>
        <p:nvSpPr>
          <p:cNvPr id="7" name="Text 5"/>
          <p:cNvSpPr/>
          <p:nvPr/>
        </p:nvSpPr>
        <p:spPr>
          <a:xfrm>
            <a:off x="1066714" y="2936072"/>
            <a:ext cx="7299277"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CF7F8"/>
                </a:solidFill>
                <a:latin typeface="IBM Plex Sans" pitchFamily="34" charset="0"/>
                <a:ea typeface="IBM Plex Sans" pitchFamily="34" charset="-122"/>
                <a:cs typeface="IBM Plex Sans" pitchFamily="34" charset="-120"/>
              </a:rPr>
              <a:t>songs by 1,597 artists</a:t>
            </a:r>
            <a:endParaRPr lang="en-US" sz="1500" dirty="0"/>
          </a:p>
        </p:txBody>
      </p:sp>
      <p:sp>
        <p:nvSpPr>
          <p:cNvPr id="8" name="Shape 6"/>
          <p:cNvSpPr/>
          <p:nvPr/>
        </p:nvSpPr>
        <p:spPr>
          <a:xfrm>
            <a:off x="8508933" y="1899791"/>
            <a:ext cx="2870251" cy="1556944"/>
          </a:xfrm>
          <a:prstGeom prst="roundRect">
            <a:avLst>
              <a:gd name="adj" fmla="val 6526"/>
            </a:avLst>
          </a:prstGeom>
          <a:solidFill>
            <a:srgbClr val="A31621"/>
          </a:solidFill>
          <a:ln/>
        </p:spPr>
      </p:sp>
      <p:sp>
        <p:nvSpPr>
          <p:cNvPr id="9" name="Text 7"/>
          <p:cNvSpPr/>
          <p:nvPr/>
        </p:nvSpPr>
        <p:spPr>
          <a:xfrm>
            <a:off x="8762917" y="2153776"/>
            <a:ext cx="2433152"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CF7F8"/>
                </a:solidFill>
                <a:latin typeface="IBM Plex Sans" pitchFamily="34" charset="0"/>
                <a:ea typeface="IBM Plex Sans" pitchFamily="34" charset="-122"/>
                <a:cs typeface="IBM Plex Sans" pitchFamily="34" charset="-120"/>
              </a:rPr>
              <a:t>FINAL TEST</a:t>
            </a:r>
            <a:endParaRPr lang="en-US" sz="1200" dirty="0"/>
          </a:p>
        </p:txBody>
      </p:sp>
      <p:sp>
        <p:nvSpPr>
          <p:cNvPr id="10" name="Text 8"/>
          <p:cNvSpPr/>
          <p:nvPr/>
        </p:nvSpPr>
        <p:spPr>
          <a:xfrm>
            <a:off x="8762917" y="2417933"/>
            <a:ext cx="2433152" cy="49276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CF7F8"/>
                </a:solidFill>
                <a:latin typeface="Libre Baskerville" pitchFamily="18" charset="0"/>
                <a:ea typeface="Libre Baskerville" pitchFamily="18" charset="-122"/>
                <a:cs typeface="Libre Baskerville" pitchFamily="18" charset="-120"/>
              </a:rPr>
              <a:t>1,004</a:t>
            </a:r>
            <a:endParaRPr lang="en-US" sz="3200" dirty="0"/>
          </a:p>
        </p:txBody>
      </p:sp>
      <p:sp>
        <p:nvSpPr>
          <p:cNvPr id="11" name="Text 9"/>
          <p:cNvSpPr/>
          <p:nvPr/>
        </p:nvSpPr>
        <p:spPr>
          <a:xfrm>
            <a:off x="8762917" y="2936072"/>
            <a:ext cx="2433152"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CF7F8"/>
                </a:solidFill>
                <a:latin typeface="IBM Plex Sans" pitchFamily="34" charset="0"/>
                <a:ea typeface="IBM Plex Sans" pitchFamily="34" charset="-122"/>
                <a:cs typeface="IBM Plex Sans" pitchFamily="34" charset="-120"/>
              </a:rPr>
              <a:t>songs by 534 artists</a:t>
            </a:r>
            <a:endParaRPr lang="en-US" sz="1500" dirty="0"/>
          </a:p>
        </p:txBody>
      </p:sp>
      <p:sp>
        <p:nvSpPr>
          <p:cNvPr id="12" name="Text 10"/>
          <p:cNvSpPr/>
          <p:nvPr/>
        </p:nvSpPr>
        <p:spPr>
          <a:xfrm>
            <a:off x="883851" y="3761498"/>
            <a:ext cx="10804707" cy="882563"/>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No artist is on both sides, so the model cannot just recognise a familiar artist.</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Every setting is chosen on practice rounds inside the learning set; the test is used once.</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Choosing settings on the test songs, as the paper did, overstated accuracy by 1.7 points in our check.</a:t>
            </a:r>
            <a:endParaRPr lang="en-US" sz="1500" dirty="0"/>
          </a:p>
        </p:txBody>
      </p:sp>
      <p:sp>
        <p:nvSpPr>
          <p:cNvPr id="13" name="Text 11"/>
          <p:cNvSpPr/>
          <p:nvPr/>
        </p:nvSpPr>
        <p:spPr>
          <a:xfrm>
            <a:off x="812731" y="6238295"/>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14" name="Text 12"/>
          <p:cNvSpPr/>
          <p:nvPr/>
        </p:nvSpPr>
        <p:spPr>
          <a:xfrm>
            <a:off x="10058466" y="6238295"/>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EXPERIMENT 1: RERUN THE PAPER</a:t>
            </a:r>
            <a:endParaRPr lang="en-US" sz="1200" dirty="0"/>
          </a:p>
        </p:txBody>
      </p:sp>
      <p:sp>
        <p:nvSpPr>
          <p:cNvPr id="3" name="Text 1"/>
          <p:cNvSpPr>
            <a:spLocks noGrp="1"/>
          </p:cNvSpPr>
          <p:nvPr>
            <p:ph type="title"/>
          </p:nvPr>
        </p:nvSpPr>
        <p:spPr>
          <a:xfrm>
            <a:off x="812731" y="1127668"/>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We got the paper's numbers back</a:t>
            </a:r>
            <a:endParaRPr lang="en-US" sz="3200" dirty="0"/>
          </a:p>
        </p:txBody>
      </p:sp>
      <p:pic>
        <p:nvPicPr>
          <p:cNvPr id="4" name="Image 0" descr="Bar chart of accuracy for seven models: the paper's number next to our rerun. They match for logistic regression (75.9), GDA (73.7), linear SVM (72.9) and RBF SVM (62.2); polynomial SVM 73.8 vs 73.7, decision tree 68.7 vs 70.1, neural network 76.5 vs 74.9."/>
          <p:cNvPicPr>
            <a:picLocks noChangeAspect="1"/>
          </p:cNvPicPr>
          <p:nvPr/>
        </p:nvPicPr>
        <p:blipFill>
          <a:blip r:embed="rId3"/>
          <a:srcRect t="-23" b="-23"/>
          <a:stretch/>
        </p:blipFill>
        <p:spPr>
          <a:xfrm>
            <a:off x="1695370" y="1849013"/>
            <a:ext cx="8801088" cy="3174927"/>
          </a:xfrm>
          <a:prstGeom prst="rect">
            <a:avLst/>
          </a:prstGeom>
        </p:spPr>
      </p:pic>
      <p:sp>
        <p:nvSpPr>
          <p:cNvPr id="5" name="Text 2"/>
          <p:cNvSpPr/>
          <p:nvPr/>
        </p:nvSpPr>
        <p:spPr>
          <a:xfrm>
            <a:off x="812731" y="5277923"/>
            <a:ext cx="10883447"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Four of seven models match to the decimal. The others are 0.1 to 1.6 points away.</a:t>
            </a:r>
            <a:endParaRPr lang="en-US" sz="1500" dirty="0"/>
          </a:p>
        </p:txBody>
      </p:sp>
      <p:sp>
        <p:nvSpPr>
          <p:cNvPr id="6" name="Text 3"/>
          <p:cNvSpPr/>
          <p:nvPr/>
        </p:nvSpPr>
        <p:spPr>
          <a:xfrm>
            <a:off x="812731" y="6238298"/>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7" name="Text 4"/>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EXPERIMENT 2: CHECK THE SCORING</a:t>
            </a:r>
            <a:endParaRPr lang="en-US" sz="1200" dirty="0"/>
          </a:p>
        </p:txBody>
      </p:sp>
      <p:sp>
        <p:nvSpPr>
          <p:cNvPr id="3" name="Text 1"/>
          <p:cNvSpPr>
            <a:spLocks noGrp="1"/>
          </p:cNvSpPr>
          <p:nvPr>
            <p:ph type="title"/>
          </p:nvPr>
        </p:nvSpPr>
        <p:spPr>
          <a:xfrm>
            <a:off x="812731" y="1127668"/>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Three counting mistakes in the paper's code</a:t>
            </a:r>
            <a:endParaRPr lang="en-US" sz="3200" dirty="0"/>
          </a:p>
        </p:txBody>
      </p:sp>
      <p:pic>
        <p:nvPicPr>
          <p:cNvPr id="4" name="Image 0" descr="Bar chart comparing what the paper reported with the correctly counted value: SVM accuracy on its own training songs 55.0 vs 72.1; grouping songs without labels (EM) 50.1 vs 62.6; voting trees with 50 trees 2.7 vs 75.5."/>
          <p:cNvPicPr>
            <a:picLocks noChangeAspect="1"/>
          </p:cNvPicPr>
          <p:nvPr/>
        </p:nvPicPr>
        <p:blipFill>
          <a:blip r:embed="rId3"/>
          <a:srcRect t="-23" b="-23"/>
          <a:stretch/>
        </p:blipFill>
        <p:spPr>
          <a:xfrm>
            <a:off x="1695370" y="1849013"/>
            <a:ext cx="8801088" cy="3174927"/>
          </a:xfrm>
          <a:prstGeom prst="rect">
            <a:avLst/>
          </a:prstGeom>
        </p:spPr>
      </p:pic>
      <p:sp>
        <p:nvSpPr>
          <p:cNvPr id="5" name="Text 2"/>
          <p:cNvSpPr/>
          <p:nvPr/>
        </p:nvSpPr>
        <p:spPr>
          <a:xfrm>
            <a:off x="812731" y="5277923"/>
            <a:ext cx="10883447"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The paper concluded that SVMs overfit and that grouping fails. Counted correctly, neither holds.</a:t>
            </a:r>
            <a:endParaRPr lang="en-US" sz="1500" dirty="0"/>
          </a:p>
        </p:txBody>
      </p:sp>
      <p:sp>
        <p:nvSpPr>
          <p:cNvPr id="6" name="Text 3"/>
          <p:cNvSpPr/>
          <p:nvPr/>
        </p:nvSpPr>
        <p:spPr>
          <a:xfrm>
            <a:off x="812731" y="6238298"/>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7" name="Text 4"/>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EXPERIMENT 3: HOLIDAY HITS</a:t>
            </a:r>
            <a:endParaRPr lang="en-US" sz="1200" dirty="0"/>
          </a:p>
        </p:txBody>
      </p:sp>
      <p:sp>
        <p:nvSpPr>
          <p:cNvPr id="3" name="Text 1"/>
          <p:cNvSpPr>
            <a:spLocks noGrp="1"/>
          </p:cNvSpPr>
          <p:nvPr>
            <p:ph type="title"/>
          </p:nvPr>
        </p:nvSpPr>
        <p:spPr>
          <a:xfrm>
            <a:off x="812731" y="1127671"/>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Are holiday hits different? Mostly not</a:t>
            </a:r>
            <a:endParaRPr lang="en-US" sz="3200" dirty="0"/>
          </a:p>
        </p:txBody>
      </p:sp>
      <p:sp>
        <p:nvSpPr>
          <p:cNvPr id="4" name="Text 2"/>
          <p:cNvSpPr/>
          <p:nvPr/>
        </p:nvSpPr>
        <p:spPr>
          <a:xfrm>
            <a:off x="812731" y="1899791"/>
            <a:ext cx="5232423" cy="292079"/>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03156"/>
                </a:solidFill>
                <a:latin typeface="IBM Plex Sans" pitchFamily="34" charset="0"/>
                <a:ea typeface="IBM Plex Sans" pitchFamily="34" charset="-122"/>
                <a:cs typeface="IBM Plex Sans" pitchFamily="34" charset="-120"/>
              </a:rPr>
              <a:t>34% of dated songs say "January"</a:t>
            </a:r>
            <a:endParaRPr lang="en-US" sz="1500" dirty="0"/>
          </a:p>
        </p:txBody>
      </p:sp>
      <p:pic>
        <p:nvPicPr>
          <p:cNvPr id="5" name="Image 0" descr="Bar chart of songs by release month. January has 1,103 songs; every other month has roughly 100 to 250."/>
          <p:cNvPicPr>
            <a:picLocks noChangeAspect="1"/>
          </p:cNvPicPr>
          <p:nvPr/>
        </p:nvPicPr>
        <p:blipFill>
          <a:blip r:embed="rId3"/>
          <a:srcRect/>
          <a:stretch/>
        </p:blipFill>
        <p:spPr>
          <a:xfrm>
            <a:off x="812731" y="2268029"/>
            <a:ext cx="4952987" cy="3467082"/>
          </a:xfrm>
          <a:prstGeom prst="rect">
            <a:avLst/>
          </a:prstGeom>
        </p:spPr>
      </p:pic>
      <p:sp>
        <p:nvSpPr>
          <p:cNvPr id="6" name="Text 3"/>
          <p:cNvSpPr/>
          <p:nvPr/>
        </p:nvSpPr>
        <p:spPr>
          <a:xfrm>
            <a:off x="6299075" y="1899791"/>
            <a:ext cx="5232513" cy="292079"/>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03156"/>
                </a:solidFill>
                <a:latin typeface="IBM Plex Sans" pitchFamily="34" charset="0"/>
                <a:ea typeface="IBM Plex Sans" pitchFamily="34" charset="-122"/>
                <a:cs typeface="IBM Plex Sans" pitchFamily="34" charset="-120"/>
              </a:rPr>
              <a:t>Accuracy on unseen artists</a:t>
            </a:r>
            <a:endParaRPr lang="en-US" sz="1500" dirty="0"/>
          </a:p>
        </p:txBody>
      </p:sp>
      <p:pic>
        <p:nvPicPr>
          <p:cNvPr id="7" name="Image 1" descr="Bar chart of accuracy by release month: November and December 78.4%, February to October 75.6%, January 71.3%."/>
          <p:cNvPicPr>
            <a:picLocks noChangeAspect="1"/>
          </p:cNvPicPr>
          <p:nvPr/>
        </p:nvPicPr>
        <p:blipFill>
          <a:blip r:embed="rId4"/>
          <a:srcRect/>
          <a:stretch/>
        </p:blipFill>
        <p:spPr>
          <a:xfrm>
            <a:off x="6299075" y="2268029"/>
            <a:ext cx="4952987" cy="3467082"/>
          </a:xfrm>
          <a:prstGeom prst="rect">
            <a:avLst/>
          </a:prstGeom>
        </p:spPr>
      </p:pic>
      <p:sp>
        <p:nvSpPr>
          <p:cNvPr id="8" name="Text 4"/>
          <p:cNvSpPr/>
          <p:nvPr/>
        </p:nvSpPr>
        <p:spPr>
          <a:xfrm>
            <a:off x="812731" y="6238298"/>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9" name="Text 5"/>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2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EXPERIMENT 4: COMPARE MODELS</a:t>
            </a:r>
            <a:endParaRPr lang="en-US" sz="1200" dirty="0"/>
          </a:p>
        </p:txBody>
      </p:sp>
      <p:sp>
        <p:nvSpPr>
          <p:cNvPr id="3" name="Text 1"/>
          <p:cNvSpPr>
            <a:spLocks noGrp="1"/>
          </p:cNvSpPr>
          <p:nvPr>
            <p:ph type="title"/>
          </p:nvPr>
        </p:nvSpPr>
        <p:spPr>
          <a:xfrm>
            <a:off x="812731" y="1127665"/>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Thirteen models, one narrow race</a:t>
            </a:r>
            <a:endParaRPr lang="en-US" sz="3200" dirty="0"/>
          </a:p>
        </p:txBody>
      </p:sp>
      <p:pic>
        <p:nvPicPr>
          <p:cNvPr id="4" name="Image 0" descr="Horizontal bar chart of test accuracy for 13 models on unseen artists: gradient boosting 75.9%, nearest neighbours 75.2%, decision tree 75.1%, random forest 75.0%, logistic regression 74.9%, small neural net 74.8%, SVM (RBF) 74.5%, larger neural net 74.4%, GDA 74.1%, linear SVM 72.1%, artist score only 72.1%, naive Bayes 68.2%, always 'not a hit' 60.4%."/>
          <p:cNvPicPr>
            <a:picLocks noChangeAspect="1"/>
          </p:cNvPicPr>
          <p:nvPr/>
        </p:nvPicPr>
        <p:blipFill>
          <a:blip r:embed="rId3"/>
          <a:srcRect l="-52" r="-52"/>
          <a:stretch/>
        </p:blipFill>
        <p:spPr>
          <a:xfrm>
            <a:off x="812731" y="1849010"/>
            <a:ext cx="5003767" cy="3898881"/>
          </a:xfrm>
          <a:prstGeom prst="rect">
            <a:avLst/>
          </a:prstGeom>
        </p:spPr>
      </p:pic>
      <p:sp>
        <p:nvSpPr>
          <p:cNvPr id="5" name="Text 2"/>
          <p:cNvSpPr/>
          <p:nvPr/>
        </p:nvSpPr>
        <p:spPr>
          <a:xfrm>
            <a:off x="6273685" y="2271942"/>
            <a:ext cx="5258664" cy="49276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A31621"/>
                </a:solidFill>
                <a:latin typeface="Libre Baskerville" pitchFamily="18" charset="0"/>
                <a:ea typeface="Libre Baskerville" pitchFamily="18" charset="-122"/>
                <a:cs typeface="Libre Baskerville" pitchFamily="18" charset="-120"/>
              </a:rPr>
              <a:t>75.9%</a:t>
            </a:r>
            <a:endParaRPr lang="en-US" sz="3200" dirty="0"/>
          </a:p>
        </p:txBody>
      </p:sp>
      <p:sp>
        <p:nvSpPr>
          <p:cNvPr id="6" name="Text 3"/>
          <p:cNvSpPr/>
          <p:nvPr/>
        </p:nvSpPr>
        <p:spPr>
          <a:xfrm>
            <a:off x="6273685" y="2764687"/>
            <a:ext cx="5258664" cy="55875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Best: gradient boosting, many small decision trees added together</a:t>
            </a:r>
            <a:endParaRPr lang="en-US" sz="1500" dirty="0"/>
          </a:p>
        </p:txBody>
      </p:sp>
      <p:sp>
        <p:nvSpPr>
          <p:cNvPr id="7" name="Text 4"/>
          <p:cNvSpPr/>
          <p:nvPr/>
        </p:nvSpPr>
        <p:spPr>
          <a:xfrm>
            <a:off x="6273685" y="3552031"/>
            <a:ext cx="5258664" cy="49276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503156"/>
                </a:solidFill>
                <a:latin typeface="Libre Baskerville" pitchFamily="18" charset="0"/>
                <a:ea typeface="Libre Baskerville" pitchFamily="18" charset="-122"/>
                <a:cs typeface="Libre Baskerville" pitchFamily="18" charset="-120"/>
              </a:rPr>
              <a:t>72.1%</a:t>
            </a:r>
            <a:endParaRPr lang="en-US" sz="3200" dirty="0"/>
          </a:p>
        </p:txBody>
      </p:sp>
      <p:sp>
        <p:nvSpPr>
          <p:cNvPr id="8" name="Text 5"/>
          <p:cNvSpPr/>
          <p:nvPr/>
        </p:nvSpPr>
        <p:spPr>
          <a:xfrm>
            <a:off x="6273685" y="4044783"/>
            <a:ext cx="5258664"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Just asking "has the artist had a hit before?"</a:t>
            </a:r>
            <a:endParaRPr lang="en-US" sz="1500" dirty="0"/>
          </a:p>
        </p:txBody>
      </p:sp>
      <p:sp>
        <p:nvSpPr>
          <p:cNvPr id="9" name="Text 6"/>
          <p:cNvSpPr/>
          <p:nvPr/>
        </p:nvSpPr>
        <p:spPr>
          <a:xfrm>
            <a:off x="6273685" y="4565445"/>
            <a:ext cx="5258664" cy="49276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503156"/>
                </a:solidFill>
                <a:latin typeface="Libre Baskerville" pitchFamily="18" charset="0"/>
                <a:ea typeface="Libre Baskerville" pitchFamily="18" charset="-122"/>
                <a:cs typeface="Libre Baskerville" pitchFamily="18" charset="-120"/>
              </a:rPr>
              <a:t>9</a:t>
            </a:r>
            <a:endParaRPr lang="en-US" sz="3200" dirty="0"/>
          </a:p>
        </p:txBody>
      </p:sp>
      <p:sp>
        <p:nvSpPr>
          <p:cNvPr id="10" name="Text 7"/>
          <p:cNvSpPr/>
          <p:nvPr/>
        </p:nvSpPr>
        <p:spPr>
          <a:xfrm>
            <a:off x="6273685" y="5058197"/>
            <a:ext cx="5258664"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models finish within 2 points of each other</a:t>
            </a:r>
            <a:endParaRPr lang="en-US" sz="1500" dirty="0"/>
          </a:p>
        </p:txBody>
      </p:sp>
      <p:sp>
        <p:nvSpPr>
          <p:cNvPr id="11" name="Text 8"/>
          <p:cNvSpPr/>
          <p:nvPr/>
        </p:nvSpPr>
        <p:spPr>
          <a:xfrm>
            <a:off x="812731" y="6238292"/>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12" name="Text 9"/>
          <p:cNvSpPr/>
          <p:nvPr/>
        </p:nvSpPr>
        <p:spPr>
          <a:xfrm>
            <a:off x="10058466" y="6238292"/>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HONEST LOOK</a:t>
            </a:r>
            <a:endParaRPr lang="en-US" sz="1200" dirty="0"/>
          </a:p>
        </p:txBody>
      </p:sp>
      <p:sp>
        <p:nvSpPr>
          <p:cNvPr id="3" name="Text 1"/>
          <p:cNvSpPr>
            <a:spLocks noGrp="1"/>
          </p:cNvSpPr>
          <p:nvPr>
            <p:ph type="title"/>
          </p:nvPr>
        </p:nvSpPr>
        <p:spPr>
          <a:xfrm>
            <a:off x="812731" y="1127665"/>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Where the model still goes wrong</a:t>
            </a:r>
            <a:endParaRPr lang="en-US" sz="3200" dirty="0"/>
          </a:p>
        </p:txBody>
      </p:sp>
      <p:sp>
        <p:nvSpPr>
          <p:cNvPr id="4" name="Text 2"/>
          <p:cNvSpPr/>
          <p:nvPr/>
        </p:nvSpPr>
        <p:spPr>
          <a:xfrm>
            <a:off x="2130244" y="1899791"/>
            <a:ext cx="1962069" cy="238778"/>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03156"/>
                </a:solidFill>
                <a:latin typeface="IBM Plex Sans" pitchFamily="34" charset="0"/>
                <a:ea typeface="IBM Plex Sans" pitchFamily="34" charset="-122"/>
                <a:cs typeface="IBM Plex Sans" pitchFamily="34" charset="-120"/>
              </a:rPr>
              <a:t>Model says "hit"</a:t>
            </a:r>
            <a:endParaRPr lang="en-US" sz="1200" dirty="0"/>
          </a:p>
        </p:txBody>
      </p:sp>
      <p:sp>
        <p:nvSpPr>
          <p:cNvPr id="5" name="Text 3"/>
          <p:cNvSpPr/>
          <p:nvPr/>
        </p:nvSpPr>
        <p:spPr>
          <a:xfrm>
            <a:off x="4111335" y="1899791"/>
            <a:ext cx="1962069" cy="238778"/>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03156"/>
                </a:solidFill>
                <a:latin typeface="IBM Plex Sans" pitchFamily="34" charset="0"/>
                <a:ea typeface="IBM Plex Sans" pitchFamily="34" charset="-122"/>
                <a:cs typeface="IBM Plex Sans" pitchFamily="34" charset="-120"/>
              </a:rPr>
              <a:t>Model says "no"</a:t>
            </a:r>
            <a:endParaRPr lang="en-US" sz="1200" dirty="0"/>
          </a:p>
        </p:txBody>
      </p:sp>
      <p:sp>
        <p:nvSpPr>
          <p:cNvPr id="6" name="Text 4"/>
          <p:cNvSpPr/>
          <p:nvPr/>
        </p:nvSpPr>
        <p:spPr>
          <a:xfrm>
            <a:off x="812731" y="2544936"/>
            <a:ext cx="1320719" cy="7313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03156"/>
                </a:solidFill>
                <a:latin typeface="IBM Plex Sans" pitchFamily="34" charset="0"/>
                <a:ea typeface="IBM Plex Sans" pitchFamily="34" charset="-122"/>
                <a:cs typeface="IBM Plex Sans" pitchFamily="34" charset="-120"/>
              </a:rPr>
              <a:t>Really a hit</a:t>
            </a:r>
            <a:endParaRPr lang="en-US" sz="1200" dirty="0"/>
          </a:p>
        </p:txBody>
      </p:sp>
      <p:sp>
        <p:nvSpPr>
          <p:cNvPr id="7" name="Shape 5"/>
          <p:cNvSpPr/>
          <p:nvPr/>
        </p:nvSpPr>
        <p:spPr>
          <a:xfrm>
            <a:off x="2158818" y="2189336"/>
            <a:ext cx="1904922" cy="1061584"/>
          </a:xfrm>
          <a:prstGeom prst="roundRect">
            <a:avLst>
              <a:gd name="adj" fmla="val 7178"/>
            </a:avLst>
          </a:prstGeom>
          <a:solidFill>
            <a:srgbClr val="BCD8C1"/>
          </a:solidFill>
          <a:ln/>
        </p:spPr>
      </p:sp>
      <p:sp>
        <p:nvSpPr>
          <p:cNvPr id="8" name="Text 6"/>
          <p:cNvSpPr/>
          <p:nvPr/>
        </p:nvSpPr>
        <p:spPr>
          <a:xfrm>
            <a:off x="2632884" y="2367068"/>
            <a:ext cx="956704" cy="492761"/>
          </a:xfrm>
          <a:prstGeom prst="rect">
            <a:avLst/>
          </a:prstGeom>
          <a:noFill/>
          <a:ln/>
        </p:spPr>
        <p:txBody>
          <a:bodyPr wrap="square" lIns="0" tIns="0" rIns="0" bIns="0" rtlCol="0" anchor="t">
            <a:normAutofit/>
          </a:bodyPr>
          <a:lstStyle/>
          <a:p>
            <a:pPr marL="0" indent="0" algn="ctr">
              <a:lnSpc>
                <a:spcPts val="3680"/>
              </a:lnSpc>
              <a:buNone/>
            </a:pPr>
            <a:r>
              <a:rPr lang="en-US" sz="3200" b="1" dirty="0">
                <a:solidFill>
                  <a:srgbClr val="2E1C31"/>
                </a:solidFill>
                <a:latin typeface="Libre Baskerville" pitchFamily="18" charset="0"/>
                <a:ea typeface="Libre Baskerville" pitchFamily="18" charset="-122"/>
                <a:cs typeface="Libre Baskerville" pitchFamily="18" charset="-120"/>
              </a:rPr>
              <a:t>263</a:t>
            </a:r>
            <a:endParaRPr lang="en-US" sz="3200" dirty="0"/>
          </a:p>
        </p:txBody>
      </p:sp>
      <p:sp>
        <p:nvSpPr>
          <p:cNvPr id="9" name="Text 7"/>
          <p:cNvSpPr/>
          <p:nvPr/>
        </p:nvSpPr>
        <p:spPr>
          <a:xfrm>
            <a:off x="2873903" y="2859819"/>
            <a:ext cx="474752"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E1C31"/>
                </a:solidFill>
                <a:latin typeface="IBM Plex Sans" pitchFamily="34" charset="0"/>
                <a:ea typeface="IBM Plex Sans" pitchFamily="34" charset="-122"/>
                <a:cs typeface="IBM Plex Sans" pitchFamily="34" charset="-120"/>
              </a:rPr>
              <a:t>found</a:t>
            </a:r>
            <a:endParaRPr lang="en-US" sz="1200" dirty="0"/>
          </a:p>
        </p:txBody>
      </p:sp>
      <p:sp>
        <p:nvSpPr>
          <p:cNvPr id="10" name="Shape 8"/>
          <p:cNvSpPr/>
          <p:nvPr/>
        </p:nvSpPr>
        <p:spPr>
          <a:xfrm>
            <a:off x="4139909" y="2189336"/>
            <a:ext cx="1904922" cy="1061584"/>
          </a:xfrm>
          <a:prstGeom prst="roundRect">
            <a:avLst>
              <a:gd name="adj" fmla="val 7178"/>
            </a:avLst>
          </a:prstGeom>
          <a:solidFill>
            <a:srgbClr val="F2D5D8"/>
          </a:solidFill>
          <a:ln/>
        </p:spPr>
      </p:sp>
      <p:sp>
        <p:nvSpPr>
          <p:cNvPr id="11" name="Text 9"/>
          <p:cNvSpPr/>
          <p:nvPr/>
        </p:nvSpPr>
        <p:spPr>
          <a:xfrm>
            <a:off x="4685648" y="2367068"/>
            <a:ext cx="813444" cy="492761"/>
          </a:xfrm>
          <a:prstGeom prst="rect">
            <a:avLst/>
          </a:prstGeom>
          <a:noFill/>
          <a:ln/>
        </p:spPr>
        <p:txBody>
          <a:bodyPr wrap="square" lIns="0" tIns="0" rIns="0" bIns="0" rtlCol="0" anchor="t">
            <a:normAutofit/>
          </a:bodyPr>
          <a:lstStyle/>
          <a:p>
            <a:pPr marL="0" indent="0" algn="ctr">
              <a:lnSpc>
                <a:spcPts val="3680"/>
              </a:lnSpc>
              <a:buNone/>
            </a:pPr>
            <a:r>
              <a:rPr lang="en-US" sz="3200" b="1" dirty="0">
                <a:solidFill>
                  <a:srgbClr val="A31621"/>
                </a:solidFill>
                <a:latin typeface="Libre Baskerville" pitchFamily="18" charset="0"/>
                <a:ea typeface="Libre Baskerville" pitchFamily="18" charset="-122"/>
                <a:cs typeface="Libre Baskerville" pitchFamily="18" charset="-120"/>
              </a:rPr>
              <a:t>135</a:t>
            </a:r>
            <a:endParaRPr lang="en-US" sz="3200" dirty="0"/>
          </a:p>
        </p:txBody>
      </p:sp>
      <p:sp>
        <p:nvSpPr>
          <p:cNvPr id="12" name="Text 10"/>
          <p:cNvSpPr/>
          <p:nvPr/>
        </p:nvSpPr>
        <p:spPr>
          <a:xfrm>
            <a:off x="4797928" y="2859819"/>
            <a:ext cx="588797"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E1C31"/>
                </a:solidFill>
                <a:latin typeface="IBM Plex Sans" pitchFamily="34" charset="0"/>
                <a:ea typeface="IBM Plex Sans" pitchFamily="34" charset="-122"/>
                <a:cs typeface="IBM Plex Sans" pitchFamily="34" charset="-120"/>
              </a:rPr>
              <a:t>missed</a:t>
            </a:r>
            <a:endParaRPr lang="en-US" sz="1200" dirty="0"/>
          </a:p>
        </p:txBody>
      </p:sp>
      <p:sp>
        <p:nvSpPr>
          <p:cNvPr id="13" name="Text 11"/>
          <p:cNvSpPr/>
          <p:nvPr/>
        </p:nvSpPr>
        <p:spPr>
          <a:xfrm>
            <a:off x="812731" y="3682690"/>
            <a:ext cx="1320719" cy="73138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03156"/>
                </a:solidFill>
                <a:latin typeface="IBM Plex Sans" pitchFamily="34" charset="0"/>
                <a:ea typeface="IBM Plex Sans" pitchFamily="34" charset="-122"/>
                <a:cs typeface="IBM Plex Sans" pitchFamily="34" charset="-120"/>
              </a:rPr>
              <a:t>Not a hit</a:t>
            </a:r>
            <a:endParaRPr lang="en-US" sz="1200" dirty="0"/>
          </a:p>
        </p:txBody>
      </p:sp>
      <p:sp>
        <p:nvSpPr>
          <p:cNvPr id="14" name="Shape 12"/>
          <p:cNvSpPr/>
          <p:nvPr/>
        </p:nvSpPr>
        <p:spPr>
          <a:xfrm>
            <a:off x="2158818" y="3327090"/>
            <a:ext cx="1904922" cy="1061584"/>
          </a:xfrm>
          <a:prstGeom prst="roundRect">
            <a:avLst>
              <a:gd name="adj" fmla="val 7178"/>
            </a:avLst>
          </a:prstGeom>
          <a:solidFill>
            <a:srgbClr val="F2D5D8"/>
          </a:solidFill>
          <a:ln/>
        </p:spPr>
      </p:sp>
      <p:sp>
        <p:nvSpPr>
          <p:cNvPr id="15" name="Text 13"/>
          <p:cNvSpPr/>
          <p:nvPr/>
        </p:nvSpPr>
        <p:spPr>
          <a:xfrm>
            <a:off x="2743372" y="3504816"/>
            <a:ext cx="735814" cy="492761"/>
          </a:xfrm>
          <a:prstGeom prst="rect">
            <a:avLst/>
          </a:prstGeom>
          <a:noFill/>
          <a:ln/>
        </p:spPr>
        <p:txBody>
          <a:bodyPr wrap="square" lIns="0" tIns="0" rIns="0" bIns="0" rtlCol="0" anchor="t">
            <a:normAutofit/>
          </a:bodyPr>
          <a:lstStyle/>
          <a:p>
            <a:pPr marL="0" indent="0" algn="ctr">
              <a:lnSpc>
                <a:spcPts val="3680"/>
              </a:lnSpc>
              <a:buNone/>
            </a:pPr>
            <a:r>
              <a:rPr lang="en-US" sz="3200" b="1" dirty="0">
                <a:solidFill>
                  <a:srgbClr val="A31621"/>
                </a:solidFill>
                <a:latin typeface="Libre Baskerville" pitchFamily="18" charset="0"/>
                <a:ea typeface="Libre Baskerville" pitchFamily="18" charset="-122"/>
                <a:cs typeface="Libre Baskerville" pitchFamily="18" charset="-120"/>
              </a:rPr>
              <a:t>113</a:t>
            </a:r>
            <a:endParaRPr lang="en-US" sz="3200" dirty="0"/>
          </a:p>
        </p:txBody>
      </p:sp>
      <p:sp>
        <p:nvSpPr>
          <p:cNvPr id="16" name="Text 14"/>
          <p:cNvSpPr/>
          <p:nvPr/>
        </p:nvSpPr>
        <p:spPr>
          <a:xfrm>
            <a:off x="2611276" y="3997567"/>
            <a:ext cx="1000005"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E1C31"/>
                </a:solidFill>
                <a:latin typeface="IBM Plex Sans" pitchFamily="34" charset="0"/>
                <a:ea typeface="IBM Plex Sans" pitchFamily="34" charset="-122"/>
                <a:cs typeface="IBM Plex Sans" pitchFamily="34" charset="-120"/>
              </a:rPr>
              <a:t>false alarms</a:t>
            </a:r>
            <a:endParaRPr lang="en-US" sz="1200" dirty="0"/>
          </a:p>
        </p:txBody>
      </p:sp>
      <p:sp>
        <p:nvSpPr>
          <p:cNvPr id="17" name="Shape 15"/>
          <p:cNvSpPr/>
          <p:nvPr/>
        </p:nvSpPr>
        <p:spPr>
          <a:xfrm>
            <a:off x="4139909" y="3327090"/>
            <a:ext cx="1904922" cy="1061584"/>
          </a:xfrm>
          <a:prstGeom prst="roundRect">
            <a:avLst>
              <a:gd name="adj" fmla="val 7178"/>
            </a:avLst>
          </a:prstGeom>
          <a:solidFill>
            <a:srgbClr val="BCD8C1"/>
          </a:solidFill>
          <a:ln/>
        </p:spPr>
      </p:sp>
      <p:sp>
        <p:nvSpPr>
          <p:cNvPr id="18" name="Text 16"/>
          <p:cNvSpPr/>
          <p:nvPr/>
        </p:nvSpPr>
        <p:spPr>
          <a:xfrm>
            <a:off x="4610835" y="3504816"/>
            <a:ext cx="963069" cy="492761"/>
          </a:xfrm>
          <a:prstGeom prst="rect">
            <a:avLst/>
          </a:prstGeom>
          <a:noFill/>
          <a:ln/>
        </p:spPr>
        <p:txBody>
          <a:bodyPr wrap="square" lIns="0" tIns="0" rIns="0" bIns="0" rtlCol="0" anchor="t">
            <a:normAutofit/>
          </a:bodyPr>
          <a:lstStyle/>
          <a:p>
            <a:pPr marL="0" indent="0" algn="ctr">
              <a:lnSpc>
                <a:spcPts val="3680"/>
              </a:lnSpc>
              <a:buNone/>
            </a:pPr>
            <a:r>
              <a:rPr lang="en-US" sz="3200" b="1" dirty="0">
                <a:solidFill>
                  <a:srgbClr val="2E1C31"/>
                </a:solidFill>
                <a:latin typeface="Libre Baskerville" pitchFamily="18" charset="0"/>
                <a:ea typeface="Libre Baskerville" pitchFamily="18" charset="-122"/>
                <a:cs typeface="Libre Baskerville" pitchFamily="18" charset="-120"/>
              </a:rPr>
              <a:t>493</a:t>
            </a:r>
            <a:endParaRPr lang="en-US" sz="3200" dirty="0"/>
          </a:p>
        </p:txBody>
      </p:sp>
      <p:sp>
        <p:nvSpPr>
          <p:cNvPr id="19" name="Text 17"/>
          <p:cNvSpPr/>
          <p:nvPr/>
        </p:nvSpPr>
        <p:spPr>
          <a:xfrm>
            <a:off x="4372416" y="3997567"/>
            <a:ext cx="1439908" cy="238778"/>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2E1C31"/>
                </a:solidFill>
                <a:latin typeface="IBM Plex Sans" pitchFamily="34" charset="0"/>
                <a:ea typeface="IBM Plex Sans" pitchFamily="34" charset="-122"/>
                <a:cs typeface="IBM Plex Sans" pitchFamily="34" charset="-120"/>
              </a:rPr>
              <a:t>correctly rejected</a:t>
            </a:r>
            <a:endParaRPr lang="en-US" sz="1200" dirty="0"/>
          </a:p>
        </p:txBody>
      </p:sp>
      <p:sp>
        <p:nvSpPr>
          <p:cNvPr id="20" name="Text 18"/>
          <p:cNvSpPr/>
          <p:nvPr/>
        </p:nvSpPr>
        <p:spPr>
          <a:xfrm>
            <a:off x="6573399" y="2429929"/>
            <a:ext cx="4944472" cy="1454004"/>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248 of 1,004 test songs are wrong, about 1 in 4</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119 of the 135 missed hits are by new artists</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It finds 90% of hits by artists with a past hit, but only 48% by newcomers</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For a newcomer, the sound is the only clue it has</a:t>
            </a:r>
            <a:endParaRPr lang="en-US" sz="1500" dirty="0"/>
          </a:p>
        </p:txBody>
      </p:sp>
      <p:sp>
        <p:nvSpPr>
          <p:cNvPr id="21" name="Text 19"/>
          <p:cNvSpPr/>
          <p:nvPr/>
        </p:nvSpPr>
        <p:spPr>
          <a:xfrm>
            <a:off x="812731" y="6238298"/>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22" name="Text 20"/>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BEYOND THE PAPER</a:t>
            </a:r>
            <a:endParaRPr lang="en-US" sz="1200" dirty="0"/>
          </a:p>
        </p:txBody>
      </p:sp>
      <p:sp>
        <p:nvSpPr>
          <p:cNvPr id="3" name="Text 1"/>
          <p:cNvSpPr>
            <a:spLocks noGrp="1"/>
          </p:cNvSpPr>
          <p:nvPr>
            <p:ph type="title"/>
          </p:nvPr>
        </p:nvSpPr>
        <p:spPr>
          <a:xfrm>
            <a:off x="812731" y="1127671"/>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Four changes, added one at a time</a:t>
            </a:r>
            <a:endParaRPr lang="en-US" sz="3200" dirty="0"/>
          </a:p>
        </p:txBody>
      </p:sp>
      <p:pic>
        <p:nvPicPr>
          <p:cNvPr id="4" name="Image 0" descr="Bar chart of accuracy on unseen artists with 95% error bars: paper's model 73.1, plus more songs 73.1, plus better features 74.3, plus boosted trees 75.3."/>
          <p:cNvPicPr>
            <a:picLocks noChangeAspect="1"/>
          </p:cNvPicPr>
          <p:nvPr/>
        </p:nvPicPr>
        <p:blipFill>
          <a:blip r:embed="rId3"/>
          <a:srcRect/>
          <a:stretch/>
        </p:blipFill>
        <p:spPr>
          <a:xfrm>
            <a:off x="812731" y="1849016"/>
            <a:ext cx="5587990" cy="3492472"/>
          </a:xfrm>
          <a:prstGeom prst="rect">
            <a:avLst/>
          </a:prstGeom>
        </p:spPr>
      </p:pic>
      <p:sp>
        <p:nvSpPr>
          <p:cNvPr id="5" name="Text 2"/>
          <p:cNvSpPr/>
          <p:nvPr/>
        </p:nvSpPr>
        <p:spPr>
          <a:xfrm>
            <a:off x="6807043" y="1977529"/>
            <a:ext cx="4709306"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More songs</a:t>
            </a:r>
            <a:endParaRPr lang="en-US" sz="1500" dirty="0"/>
          </a:p>
        </p:txBody>
      </p:sp>
      <p:sp>
        <p:nvSpPr>
          <p:cNvPr id="6" name="Text 3"/>
          <p:cNvSpPr/>
          <p:nvPr/>
        </p:nvSpPr>
        <p:spPr>
          <a:xfrm>
            <a:off x="6807043" y="2231510"/>
            <a:ext cx="4709306"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No change: 73.1% stays 73.1%</a:t>
            </a:r>
            <a:endParaRPr lang="en-US" sz="1500" dirty="0"/>
          </a:p>
        </p:txBody>
      </p:sp>
      <p:sp>
        <p:nvSpPr>
          <p:cNvPr id="7" name="Text 4"/>
          <p:cNvSpPr/>
          <p:nvPr/>
        </p:nvSpPr>
        <p:spPr>
          <a:xfrm>
            <a:off x="6807043" y="2675917"/>
            <a:ext cx="4709306"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Better features</a:t>
            </a:r>
            <a:endParaRPr lang="en-US" sz="1500" dirty="0"/>
          </a:p>
        </p:txBody>
      </p:sp>
      <p:sp>
        <p:nvSpPr>
          <p:cNvPr id="8" name="Text 5"/>
          <p:cNvSpPr/>
          <p:nvPr/>
        </p:nvSpPr>
        <p:spPr>
          <a:xfrm>
            <a:off x="6807043" y="2929899"/>
            <a:ext cx="4709306"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+1.2 points</a:t>
            </a:r>
            <a:endParaRPr lang="en-US" sz="1500" dirty="0"/>
          </a:p>
        </p:txBody>
      </p:sp>
      <p:sp>
        <p:nvSpPr>
          <p:cNvPr id="9" name="Text 6"/>
          <p:cNvSpPr/>
          <p:nvPr/>
        </p:nvSpPr>
        <p:spPr>
          <a:xfrm>
            <a:off x="6807043" y="3374306"/>
            <a:ext cx="4709306"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Boosted trees</a:t>
            </a:r>
            <a:endParaRPr lang="en-US" sz="1500" dirty="0"/>
          </a:p>
        </p:txBody>
      </p:sp>
      <p:sp>
        <p:nvSpPr>
          <p:cNvPr id="10" name="Text 7"/>
          <p:cNvSpPr/>
          <p:nvPr/>
        </p:nvSpPr>
        <p:spPr>
          <a:xfrm>
            <a:off x="6807043" y="3628293"/>
            <a:ext cx="4709306"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+1.0 point</a:t>
            </a:r>
            <a:endParaRPr lang="en-US" sz="1500" dirty="0"/>
          </a:p>
        </p:txBody>
      </p:sp>
      <p:sp>
        <p:nvSpPr>
          <p:cNvPr id="11" name="Text 8"/>
          <p:cNvSpPr/>
          <p:nvPr/>
        </p:nvSpPr>
        <p:spPr>
          <a:xfrm>
            <a:off x="6807043" y="4072694"/>
            <a:ext cx="4709306"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Cautious mode</a:t>
            </a:r>
            <a:endParaRPr lang="en-US" sz="1500" dirty="0"/>
          </a:p>
        </p:txBody>
      </p:sp>
      <p:sp>
        <p:nvSpPr>
          <p:cNvPr id="12" name="Text 9"/>
          <p:cNvSpPr/>
          <p:nvPr/>
        </p:nvSpPr>
        <p:spPr>
          <a:xfrm>
            <a:off x="6807043" y="4326682"/>
            <a:ext cx="4709306"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E1C31"/>
                </a:solidFill>
                <a:latin typeface="IBM Plex Sans" pitchFamily="34" charset="0"/>
                <a:ea typeface="IBM Plex Sans" pitchFamily="34" charset="-122"/>
                <a:cs typeface="IBM Plex Sans" pitchFamily="34" charset="-120"/>
              </a:rPr>
              <a:t>Right 77.5% of the time it says "hit", up from 69.9%</a:t>
            </a:r>
            <a:endParaRPr lang="en-US" sz="1500" dirty="0"/>
          </a:p>
        </p:txBody>
      </p:sp>
      <p:sp>
        <p:nvSpPr>
          <p:cNvPr id="13" name="Text 10"/>
          <p:cNvSpPr/>
          <p:nvPr/>
        </p:nvSpPr>
        <p:spPr>
          <a:xfrm>
            <a:off x="6807043" y="4771089"/>
            <a:ext cx="4709306" cy="467285"/>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5A6E"/>
                </a:solidFill>
                <a:latin typeface="IBM Plex Sans" pitchFamily="34" charset="0"/>
                <a:ea typeface="IBM Plex Sans" pitchFamily="34" charset="-122"/>
                <a:cs typeface="IBM Plex Sans" pitchFamily="34" charset="-120"/>
              </a:rPr>
              <a:t>Error bars show the 95% range. The total gain, +2.2 points, is still inside it.</a:t>
            </a:r>
            <a:endParaRPr lang="en-US" sz="1200" dirty="0"/>
          </a:p>
        </p:txBody>
      </p:sp>
      <p:sp>
        <p:nvSpPr>
          <p:cNvPr id="14" name="Text 11"/>
          <p:cNvSpPr/>
          <p:nvPr/>
        </p:nvSpPr>
        <p:spPr>
          <a:xfrm>
            <a:off x="812731" y="6238298"/>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15" name="Text 12"/>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503156"/>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CD8C1"/>
                </a:solidFill>
                <a:latin typeface="IBM Plex Sans" pitchFamily="34" charset="0"/>
                <a:ea typeface="IBM Plex Sans" pitchFamily="34" charset="-122"/>
                <a:cs typeface="IBM Plex Sans" pitchFamily="34" charset="-120"/>
              </a:rPr>
              <a:t>LIVE DEMO</a:t>
            </a:r>
            <a:endParaRPr lang="en-US" sz="1200" dirty="0"/>
          </a:p>
        </p:txBody>
      </p:sp>
      <p:sp>
        <p:nvSpPr>
          <p:cNvPr id="3" name="Text 1"/>
          <p:cNvSpPr>
            <a:spLocks noGrp="1"/>
          </p:cNvSpPr>
          <p:nvPr>
            <p:ph type="title"/>
          </p:nvPr>
        </p:nvSpPr>
        <p:spPr>
          <a:xfrm>
            <a:off x="812731" y="1127671"/>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CF7F8"/>
                </a:solidFill>
                <a:latin typeface="Libre Baskerville" pitchFamily="18" charset="0"/>
                <a:ea typeface="Libre Baskerville" pitchFamily="18" charset="-122"/>
                <a:cs typeface="Libre Baskerville" pitchFamily="18" charset="-120"/>
              </a:rPr>
              <a:t>What you will see</a:t>
            </a:r>
            <a:endParaRPr lang="en-US" sz="3200" dirty="0"/>
          </a:p>
        </p:txBody>
      </p:sp>
      <p:sp>
        <p:nvSpPr>
          <p:cNvPr id="4" name="Shape 2"/>
          <p:cNvSpPr/>
          <p:nvPr/>
        </p:nvSpPr>
        <p:spPr>
          <a:xfrm>
            <a:off x="812731" y="1899797"/>
            <a:ext cx="5207058" cy="1320698"/>
          </a:xfrm>
          <a:prstGeom prst="roundRect">
            <a:avLst>
              <a:gd name="adj" fmla="val 7693"/>
            </a:avLst>
          </a:prstGeom>
          <a:solidFill>
            <a:srgbClr val="62436A"/>
          </a:solidFill>
          <a:ln/>
        </p:spPr>
      </p:sp>
      <p:pic>
        <p:nvPicPr>
          <p:cNvPr id="5" name="Image 0" descr="Play"/>
          <p:cNvPicPr>
            <a:picLocks noChangeAspect="1"/>
          </p:cNvPicPr>
          <p:nvPr/>
        </p:nvPicPr>
        <p:blipFill>
          <a:blip r:embed="rId3"/>
          <a:srcRect/>
          <a:stretch/>
        </p:blipFill>
        <p:spPr>
          <a:xfrm>
            <a:off x="1066714" y="2153779"/>
            <a:ext cx="355542" cy="355542"/>
          </a:xfrm>
          <a:prstGeom prst="rect">
            <a:avLst/>
          </a:prstGeom>
        </p:spPr>
      </p:pic>
      <p:sp>
        <p:nvSpPr>
          <p:cNvPr id="6" name="Text 3"/>
          <p:cNvSpPr/>
          <p:nvPr/>
        </p:nvSpPr>
        <p:spPr>
          <a:xfrm>
            <a:off x="1599985" y="2153779"/>
            <a:ext cx="4290795"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CF7F8"/>
                </a:solidFill>
                <a:latin typeface="IBM Plex Sans" pitchFamily="34" charset="0"/>
                <a:ea typeface="IBM Plex Sans" pitchFamily="34" charset="-122"/>
                <a:cs typeface="IBM Plex Sans" pitchFamily="34" charset="-120"/>
              </a:rPr>
              <a:t>One test song</a:t>
            </a:r>
            <a:endParaRPr lang="en-US" sz="1500" dirty="0"/>
          </a:p>
        </p:txBody>
      </p:sp>
      <p:sp>
        <p:nvSpPr>
          <p:cNvPr id="7" name="Text 4"/>
          <p:cNvSpPr/>
          <p:nvPr/>
        </p:nvSpPr>
        <p:spPr>
          <a:xfrm>
            <a:off x="1599985" y="2433154"/>
            <a:ext cx="4290795" cy="55875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EFE6"/>
                </a:solidFill>
                <a:latin typeface="IBM Plex Sans" pitchFamily="34" charset="0"/>
                <a:ea typeface="IBM Plex Sans" pitchFamily="34" charset="-122"/>
                <a:cs typeface="IBM Plex Sans" pitchFamily="34" charset="-120"/>
              </a:rPr>
              <a:t>Pick a real song the model never saw. See its chance of a hit and the true answer.</a:t>
            </a:r>
            <a:endParaRPr lang="en-US" sz="1500" dirty="0"/>
          </a:p>
        </p:txBody>
      </p:sp>
      <p:sp>
        <p:nvSpPr>
          <p:cNvPr id="8" name="Shape 5"/>
          <p:cNvSpPr/>
          <p:nvPr/>
        </p:nvSpPr>
        <p:spPr>
          <a:xfrm>
            <a:off x="6172126" y="1899797"/>
            <a:ext cx="5207058" cy="1320698"/>
          </a:xfrm>
          <a:prstGeom prst="roundRect">
            <a:avLst>
              <a:gd name="adj" fmla="val 7693"/>
            </a:avLst>
          </a:prstGeom>
          <a:solidFill>
            <a:srgbClr val="62436A"/>
          </a:solidFill>
          <a:ln/>
        </p:spPr>
      </p:sp>
      <p:pic>
        <p:nvPicPr>
          <p:cNvPr id="9" name="Image 1" descr="Verified"/>
          <p:cNvPicPr>
            <a:picLocks noChangeAspect="1"/>
          </p:cNvPicPr>
          <p:nvPr/>
        </p:nvPicPr>
        <p:blipFill>
          <a:blip r:embed="rId4"/>
          <a:srcRect/>
          <a:stretch/>
        </p:blipFill>
        <p:spPr>
          <a:xfrm>
            <a:off x="6426110" y="2153779"/>
            <a:ext cx="355542" cy="355542"/>
          </a:xfrm>
          <a:prstGeom prst="rect">
            <a:avLst/>
          </a:prstGeom>
        </p:spPr>
      </p:pic>
      <p:sp>
        <p:nvSpPr>
          <p:cNvPr id="10" name="Text 6"/>
          <p:cNvSpPr/>
          <p:nvPr/>
        </p:nvSpPr>
        <p:spPr>
          <a:xfrm>
            <a:off x="6959381" y="2153779"/>
            <a:ext cx="4290795"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CF7F8"/>
                </a:solidFill>
                <a:latin typeface="IBM Plex Sans" pitchFamily="34" charset="0"/>
                <a:ea typeface="IBM Plex Sans" pitchFamily="34" charset="-122"/>
                <a:cs typeface="IBM Plex Sans" pitchFamily="34" charset="-120"/>
              </a:rPr>
              <a:t>Cautious call</a:t>
            </a:r>
            <a:endParaRPr lang="en-US" sz="1500" dirty="0"/>
          </a:p>
        </p:txBody>
      </p:sp>
      <p:sp>
        <p:nvSpPr>
          <p:cNvPr id="11" name="Text 7"/>
          <p:cNvSpPr/>
          <p:nvPr/>
        </p:nvSpPr>
        <p:spPr>
          <a:xfrm>
            <a:off x="6959381" y="2433154"/>
            <a:ext cx="4290795" cy="55875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EFE6"/>
                </a:solidFill>
                <a:latin typeface="IBM Plex Sans" pitchFamily="34" charset="0"/>
                <a:ea typeface="IBM Plex Sans" pitchFamily="34" charset="-122"/>
                <a:cs typeface="IBM Plex Sans" pitchFamily="34" charset="-120"/>
              </a:rPr>
              <a:t>Says "hit" only when the model is fairly sure, for a label that hates false alarms.</a:t>
            </a:r>
            <a:endParaRPr lang="en-US" sz="1500" dirty="0"/>
          </a:p>
        </p:txBody>
      </p:sp>
      <p:sp>
        <p:nvSpPr>
          <p:cNvPr id="12" name="Shape 8"/>
          <p:cNvSpPr/>
          <p:nvPr/>
        </p:nvSpPr>
        <p:spPr>
          <a:xfrm>
            <a:off x="812731" y="3372830"/>
            <a:ext cx="5207058" cy="1320698"/>
          </a:xfrm>
          <a:prstGeom prst="roundRect">
            <a:avLst>
              <a:gd name="adj" fmla="val 7693"/>
            </a:avLst>
          </a:prstGeom>
          <a:solidFill>
            <a:srgbClr val="62436A"/>
          </a:solidFill>
          <a:ln/>
        </p:spPr>
      </p:sp>
      <p:pic>
        <p:nvPicPr>
          <p:cNvPr id="13" name="Image 2" descr="Search"/>
          <p:cNvPicPr>
            <a:picLocks noChangeAspect="1"/>
          </p:cNvPicPr>
          <p:nvPr/>
        </p:nvPicPr>
        <p:blipFill>
          <a:blip r:embed="rId5"/>
          <a:srcRect/>
          <a:stretch/>
        </p:blipFill>
        <p:spPr>
          <a:xfrm>
            <a:off x="1066714" y="3626811"/>
            <a:ext cx="355542" cy="355542"/>
          </a:xfrm>
          <a:prstGeom prst="rect">
            <a:avLst/>
          </a:prstGeom>
        </p:spPr>
      </p:pic>
      <p:sp>
        <p:nvSpPr>
          <p:cNvPr id="14" name="Text 9"/>
          <p:cNvSpPr/>
          <p:nvPr/>
        </p:nvSpPr>
        <p:spPr>
          <a:xfrm>
            <a:off x="1599985" y="3626811"/>
            <a:ext cx="4290795"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CF7F8"/>
                </a:solidFill>
                <a:latin typeface="IBM Plex Sans" pitchFamily="34" charset="0"/>
                <a:ea typeface="IBM Plex Sans" pitchFamily="34" charset="-122"/>
                <a:cs typeface="IBM Plex Sans" pitchFamily="34" charset="-120"/>
              </a:rPr>
              <a:t>Browse mistakes</a:t>
            </a:r>
            <a:endParaRPr lang="en-US" sz="1500" dirty="0"/>
          </a:p>
        </p:txBody>
      </p:sp>
      <p:sp>
        <p:nvSpPr>
          <p:cNvPr id="15" name="Text 10"/>
          <p:cNvSpPr/>
          <p:nvPr/>
        </p:nvSpPr>
        <p:spPr>
          <a:xfrm>
            <a:off x="1599985" y="3906186"/>
            <a:ext cx="4290795" cy="55875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EFE6"/>
                </a:solidFill>
                <a:latin typeface="IBM Plex Sans" pitchFamily="34" charset="0"/>
                <a:ea typeface="IBM Plex Sans" pitchFamily="34" charset="-122"/>
                <a:cs typeface="IBM Plex Sans" pitchFamily="34" charset="-120"/>
              </a:rPr>
              <a:t>List every test song the model gets wrong, with one click.</a:t>
            </a:r>
            <a:endParaRPr lang="en-US" sz="1500" dirty="0"/>
          </a:p>
        </p:txBody>
      </p:sp>
      <p:sp>
        <p:nvSpPr>
          <p:cNvPr id="16" name="Shape 11"/>
          <p:cNvSpPr/>
          <p:nvPr/>
        </p:nvSpPr>
        <p:spPr>
          <a:xfrm>
            <a:off x="6172126" y="3372830"/>
            <a:ext cx="5207058" cy="1320698"/>
          </a:xfrm>
          <a:prstGeom prst="roundRect">
            <a:avLst>
              <a:gd name="adj" fmla="val 7693"/>
            </a:avLst>
          </a:prstGeom>
          <a:solidFill>
            <a:srgbClr val="62436A"/>
          </a:solidFill>
          <a:ln/>
        </p:spPr>
      </p:sp>
      <p:pic>
        <p:nvPicPr>
          <p:cNvPr id="17" name="Image 3" descr="Settings"/>
          <p:cNvPicPr>
            <a:picLocks noChangeAspect="1"/>
          </p:cNvPicPr>
          <p:nvPr/>
        </p:nvPicPr>
        <p:blipFill>
          <a:blip r:embed="rId6"/>
          <a:srcRect/>
          <a:stretch/>
        </p:blipFill>
        <p:spPr>
          <a:xfrm>
            <a:off x="6426110" y="3626811"/>
            <a:ext cx="355542" cy="355542"/>
          </a:xfrm>
          <a:prstGeom prst="rect">
            <a:avLst/>
          </a:prstGeom>
        </p:spPr>
      </p:pic>
      <p:sp>
        <p:nvSpPr>
          <p:cNvPr id="18" name="Text 12"/>
          <p:cNvSpPr/>
          <p:nvPr/>
        </p:nvSpPr>
        <p:spPr>
          <a:xfrm>
            <a:off x="6959381" y="3626811"/>
            <a:ext cx="4290795"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CF7F8"/>
                </a:solidFill>
                <a:latin typeface="IBM Plex Sans" pitchFamily="34" charset="0"/>
                <a:ea typeface="IBM Plex Sans" pitchFamily="34" charset="-122"/>
                <a:cs typeface="IBM Plex Sans" pitchFamily="34" charset="-120"/>
              </a:rPr>
              <a:t>Try your own song</a:t>
            </a:r>
            <a:endParaRPr lang="en-US" sz="1500" dirty="0"/>
          </a:p>
        </p:txBody>
      </p:sp>
      <p:sp>
        <p:nvSpPr>
          <p:cNvPr id="19" name="Text 13"/>
          <p:cNvSpPr/>
          <p:nvPr/>
        </p:nvSpPr>
        <p:spPr>
          <a:xfrm>
            <a:off x="6959381" y="3906186"/>
            <a:ext cx="4290795" cy="55875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EFE6"/>
                </a:solidFill>
                <a:latin typeface="IBM Plex Sans" pitchFamily="34" charset="0"/>
                <a:ea typeface="IBM Plex Sans" pitchFamily="34" charset="-122"/>
                <a:cs typeface="IBM Plex Sans" pitchFamily="34" charset="-120"/>
              </a:rPr>
              <a:t>Move a slider for each sound feature and watch the chance change.</a:t>
            </a:r>
            <a:endParaRPr lang="en-US" sz="1500" dirty="0"/>
          </a:p>
        </p:txBody>
      </p:sp>
      <p:sp>
        <p:nvSpPr>
          <p:cNvPr id="20" name="Text 14"/>
          <p:cNvSpPr/>
          <p:nvPr/>
        </p:nvSpPr>
        <p:spPr>
          <a:xfrm>
            <a:off x="812731" y="4998293"/>
            <a:ext cx="1088344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8C1"/>
                </a:solidFill>
                <a:latin typeface="IBM Plex Sans" pitchFamily="34" charset="0"/>
                <a:ea typeface="IBM Plex Sans" pitchFamily="34" charset="-122"/>
                <a:cs typeface="IBM Plex Sans" pitchFamily="34" charset="-120"/>
              </a:rPr>
              <a:t>Backup if the app fails: the same predictions from the command line.</a:t>
            </a:r>
            <a:endParaRPr lang="en-US" sz="1200" dirty="0"/>
          </a:p>
        </p:txBody>
      </p:sp>
      <p:sp>
        <p:nvSpPr>
          <p:cNvPr id="21" name="Text 15"/>
          <p:cNvSpPr/>
          <p:nvPr/>
        </p:nvSpPr>
        <p:spPr>
          <a:xfrm>
            <a:off x="812731" y="6238298"/>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8C1"/>
                </a:solidFill>
                <a:latin typeface="IBM Plex Sans" pitchFamily="34" charset="0"/>
                <a:ea typeface="IBM Plex Sans" pitchFamily="34" charset="-122"/>
                <a:cs typeface="IBM Plex Sans" pitchFamily="34" charset="-120"/>
              </a:rPr>
              <a:t>HitPredict revisited</a:t>
            </a:r>
            <a:endParaRPr lang="en-US" sz="1200" dirty="0"/>
          </a:p>
        </p:txBody>
      </p:sp>
      <p:sp>
        <p:nvSpPr>
          <p:cNvPr id="22" name="Text 16"/>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CD8C1"/>
                </a:solidFill>
                <a:latin typeface="IBM Plex Sans" pitchFamily="34" charset="0"/>
                <a:ea typeface="IBM Plex Sans" pitchFamily="34" charset="-122"/>
                <a:cs typeface="IBM Plex Sans" pitchFamily="34"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31621"/>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6DADD"/>
                </a:solidFill>
                <a:latin typeface="IBM Plex Sans" pitchFamily="34" charset="0"/>
                <a:ea typeface="IBM Plex Sans" pitchFamily="34" charset="-122"/>
                <a:cs typeface="IBM Plex Sans" pitchFamily="34" charset="-120"/>
              </a:rPr>
              <a:t>RESULTS AT A GLANCE</a:t>
            </a:r>
            <a:endParaRPr lang="en-US" sz="1200" dirty="0"/>
          </a:p>
        </p:txBody>
      </p:sp>
      <p:sp>
        <p:nvSpPr>
          <p:cNvPr id="3" name="Text 1"/>
          <p:cNvSpPr>
            <a:spLocks noGrp="1"/>
          </p:cNvSpPr>
          <p:nvPr>
            <p:ph type="title"/>
          </p:nvPr>
        </p:nvSpPr>
        <p:spPr>
          <a:xfrm>
            <a:off x="812731" y="1127665"/>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CF7F8"/>
                </a:solidFill>
                <a:latin typeface="Libre Baskerville" pitchFamily="18" charset="0"/>
                <a:ea typeface="Libre Baskerville" pitchFamily="18" charset="-122"/>
                <a:cs typeface="Libre Baskerville" pitchFamily="18" charset="-120"/>
              </a:rPr>
              <a:t>Three numbers to remember</a:t>
            </a:r>
            <a:endParaRPr lang="en-US" sz="3200" dirty="0"/>
          </a:p>
        </p:txBody>
      </p:sp>
      <p:sp>
        <p:nvSpPr>
          <p:cNvPr id="4" name="Text 2"/>
          <p:cNvSpPr/>
          <p:nvPr/>
        </p:nvSpPr>
        <p:spPr>
          <a:xfrm>
            <a:off x="812731" y="2001348"/>
            <a:ext cx="3348808" cy="985426"/>
          </a:xfrm>
          <a:prstGeom prst="rect">
            <a:avLst/>
          </a:prstGeom>
          <a:noFill/>
          <a:ln/>
        </p:spPr>
        <p:txBody>
          <a:bodyPr wrap="square" lIns="0" tIns="0" rIns="0" bIns="0" rtlCol="0" anchor="t">
            <a:normAutofit/>
          </a:bodyPr>
          <a:lstStyle/>
          <a:p>
            <a:pPr marL="0" indent="0" algn="l">
              <a:lnSpc>
                <a:spcPts val="7560"/>
              </a:lnSpc>
              <a:buNone/>
            </a:pPr>
            <a:r>
              <a:rPr lang="en-US" sz="7200" b="1" dirty="0">
                <a:solidFill>
                  <a:srgbClr val="FCF7F8"/>
                </a:solidFill>
                <a:latin typeface="Libre Baskerville" pitchFamily="18" charset="0"/>
                <a:ea typeface="Libre Baskerville" pitchFamily="18" charset="-122"/>
                <a:cs typeface="Libre Baskerville" pitchFamily="18" charset="-120"/>
              </a:rPr>
              <a:t>75.9%</a:t>
            </a:r>
            <a:endParaRPr lang="en-US" sz="7200" dirty="0"/>
          </a:p>
        </p:txBody>
      </p:sp>
      <p:sp>
        <p:nvSpPr>
          <p:cNvPr id="5" name="Text 3"/>
          <p:cNvSpPr/>
          <p:nvPr/>
        </p:nvSpPr>
        <p:spPr>
          <a:xfrm>
            <a:off x="812731" y="3062932"/>
            <a:ext cx="3657592" cy="292079"/>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CF7F8"/>
                </a:solidFill>
                <a:latin typeface="IBM Plex Sans" pitchFamily="34" charset="0"/>
                <a:ea typeface="IBM Plex Sans" pitchFamily="34" charset="-122"/>
                <a:cs typeface="IBM Plex Sans" pitchFamily="34" charset="-120"/>
              </a:rPr>
              <a:t>The paper's best score, rebuilt exactly</a:t>
            </a:r>
            <a:endParaRPr lang="en-US" sz="1500" dirty="0"/>
          </a:p>
        </p:txBody>
      </p:sp>
      <p:sp>
        <p:nvSpPr>
          <p:cNvPr id="6" name="Text 4"/>
          <p:cNvSpPr/>
          <p:nvPr/>
        </p:nvSpPr>
        <p:spPr>
          <a:xfrm>
            <a:off x="4470322" y="2001348"/>
            <a:ext cx="3348808" cy="985426"/>
          </a:xfrm>
          <a:prstGeom prst="rect">
            <a:avLst/>
          </a:prstGeom>
          <a:noFill/>
          <a:ln/>
        </p:spPr>
        <p:txBody>
          <a:bodyPr wrap="square" lIns="0" tIns="0" rIns="0" bIns="0" rtlCol="0" anchor="t">
            <a:normAutofit/>
          </a:bodyPr>
          <a:lstStyle/>
          <a:p>
            <a:pPr marL="0" indent="0" algn="l">
              <a:lnSpc>
                <a:spcPts val="7560"/>
              </a:lnSpc>
              <a:buNone/>
            </a:pPr>
            <a:r>
              <a:rPr lang="en-US" sz="7200" b="1" dirty="0">
                <a:solidFill>
                  <a:srgbClr val="FCF7F8"/>
                </a:solidFill>
                <a:latin typeface="Libre Baskerville" pitchFamily="18" charset="0"/>
                <a:ea typeface="Libre Baskerville" pitchFamily="18" charset="-122"/>
                <a:cs typeface="Libre Baskerville" pitchFamily="18" charset="-120"/>
              </a:rPr>
              <a:t>3</a:t>
            </a:r>
            <a:endParaRPr lang="en-US" sz="7200" dirty="0"/>
          </a:p>
        </p:txBody>
      </p:sp>
      <p:sp>
        <p:nvSpPr>
          <p:cNvPr id="7" name="Text 5"/>
          <p:cNvSpPr/>
          <p:nvPr/>
        </p:nvSpPr>
        <p:spPr>
          <a:xfrm>
            <a:off x="4470322" y="3062932"/>
            <a:ext cx="3348808" cy="55875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CF7F8"/>
                </a:solidFill>
                <a:latin typeface="IBM Plex Sans" pitchFamily="34" charset="0"/>
                <a:ea typeface="IBM Plex Sans" pitchFamily="34" charset="-122"/>
                <a:cs typeface="IBM Plex Sans" pitchFamily="34" charset="-120"/>
              </a:rPr>
              <a:t>Counting mistakes found in the paper's code, and fixed</a:t>
            </a:r>
            <a:endParaRPr lang="en-US" sz="1500" dirty="0"/>
          </a:p>
        </p:txBody>
      </p:sp>
      <p:sp>
        <p:nvSpPr>
          <p:cNvPr id="8" name="Text 6"/>
          <p:cNvSpPr/>
          <p:nvPr/>
        </p:nvSpPr>
        <p:spPr>
          <a:xfrm>
            <a:off x="8127914" y="2001348"/>
            <a:ext cx="3348808" cy="985426"/>
          </a:xfrm>
          <a:prstGeom prst="rect">
            <a:avLst/>
          </a:prstGeom>
          <a:noFill/>
          <a:ln/>
        </p:spPr>
        <p:txBody>
          <a:bodyPr wrap="square" lIns="0" tIns="0" rIns="0" bIns="0" rtlCol="0" anchor="t">
            <a:normAutofit/>
          </a:bodyPr>
          <a:lstStyle/>
          <a:p>
            <a:pPr marL="0" indent="0" algn="l">
              <a:lnSpc>
                <a:spcPts val="7560"/>
              </a:lnSpc>
              <a:buNone/>
            </a:pPr>
            <a:r>
              <a:rPr lang="en-US" sz="7200" b="1" dirty="0">
                <a:solidFill>
                  <a:srgbClr val="FCF7F8"/>
                </a:solidFill>
                <a:latin typeface="Libre Baskerville" pitchFamily="18" charset="0"/>
                <a:ea typeface="Libre Baskerville" pitchFamily="18" charset="-122"/>
                <a:cs typeface="Libre Baskerville" pitchFamily="18" charset="-120"/>
              </a:rPr>
              <a:t>75.3%</a:t>
            </a:r>
            <a:endParaRPr lang="en-US" sz="7200" dirty="0"/>
          </a:p>
        </p:txBody>
      </p:sp>
      <p:sp>
        <p:nvSpPr>
          <p:cNvPr id="9" name="Text 7"/>
          <p:cNvSpPr/>
          <p:nvPr/>
        </p:nvSpPr>
        <p:spPr>
          <a:xfrm>
            <a:off x="8127914" y="3062932"/>
            <a:ext cx="3348808" cy="82543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CF7F8"/>
                </a:solidFill>
                <a:latin typeface="IBM Plex Sans" pitchFamily="34" charset="0"/>
                <a:ea typeface="IBM Plex Sans" pitchFamily="34" charset="-122"/>
                <a:cs typeface="IBM Plex Sans" pitchFamily="34" charset="-120"/>
              </a:rPr>
              <a:t>Correct on 1,004 songs by unseen artists. The paper's model scores 73.1% on the same test.</a:t>
            </a:r>
            <a:endParaRPr lang="en-US" sz="1500" dirty="0"/>
          </a:p>
        </p:txBody>
      </p:sp>
      <p:sp>
        <p:nvSpPr>
          <p:cNvPr id="10" name="Text 8"/>
          <p:cNvSpPr/>
          <p:nvPr/>
        </p:nvSpPr>
        <p:spPr>
          <a:xfrm>
            <a:off x="812731" y="6238292"/>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DADD"/>
                </a:solidFill>
                <a:latin typeface="IBM Plex Sans" pitchFamily="34" charset="0"/>
                <a:ea typeface="IBM Plex Sans" pitchFamily="34" charset="-122"/>
                <a:cs typeface="IBM Plex Sans" pitchFamily="34" charset="-120"/>
              </a:rPr>
              <a:t>HitPredict revisited</a:t>
            </a:r>
            <a:endParaRPr lang="en-US" sz="1200" dirty="0"/>
          </a:p>
        </p:txBody>
      </p:sp>
      <p:sp>
        <p:nvSpPr>
          <p:cNvPr id="11" name="Text 9"/>
          <p:cNvSpPr/>
          <p:nvPr/>
        </p:nvSpPr>
        <p:spPr>
          <a:xfrm>
            <a:off x="10058466" y="6238292"/>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6DADD"/>
                </a:solidFill>
                <a:latin typeface="IBM Plex Sans" pitchFamily="34" charset="0"/>
                <a:ea typeface="IBM Plex Sans" pitchFamily="34" charset="-122"/>
                <a:cs typeface="IBM Plex Sans" pitchFamily="34"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7F8"/>
        </a:solidFill>
        <a:effectLst/>
      </p:bgPr>
    </p:bg>
    <p:spTree>
      <p:nvGrpSpPr>
        <p:cNvPr id="1" name=""/>
        <p:cNvGrpSpPr/>
        <p:nvPr/>
      </p:nvGrpSpPr>
      <p:grpSpPr>
        <a:xfrm>
          <a:off x="0" y="0"/>
          <a:ext cx="0" cy="0"/>
          <a:chOff x="0" y="0"/>
          <a:chExt cx="0" cy="0"/>
        </a:xfrm>
      </p:grpSpPr>
      <p:sp>
        <p:nvSpPr>
          <p:cNvPr id="2" name="Text 0"/>
          <p:cNvSpPr/>
          <p:nvPr/>
        </p:nvSpPr>
        <p:spPr>
          <a:xfrm>
            <a:off x="812731" y="812732"/>
            <a:ext cx="10883447" cy="23877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1621"/>
                </a:solidFill>
                <a:latin typeface="IBM Plex Sans" pitchFamily="34" charset="0"/>
                <a:ea typeface="IBM Plex Sans" pitchFamily="34" charset="-122"/>
                <a:cs typeface="IBM Plex Sans" pitchFamily="34" charset="-120"/>
              </a:rPr>
              <a:t>LOOKING AHEAD</a:t>
            </a:r>
            <a:endParaRPr lang="en-US" sz="1200" dirty="0"/>
          </a:p>
        </p:txBody>
      </p:sp>
      <p:sp>
        <p:nvSpPr>
          <p:cNvPr id="3" name="Text 1"/>
          <p:cNvSpPr>
            <a:spLocks noGrp="1"/>
          </p:cNvSpPr>
          <p:nvPr>
            <p:ph type="title"/>
          </p:nvPr>
        </p:nvSpPr>
        <p:spPr>
          <a:xfrm>
            <a:off x="812731" y="1127665"/>
            <a:ext cx="10883447" cy="4927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503156"/>
                </a:solidFill>
                <a:latin typeface="Libre Baskerville" pitchFamily="18" charset="0"/>
                <a:ea typeface="Libre Baskerville" pitchFamily="18" charset="-122"/>
                <a:cs typeface="Libre Baskerville" pitchFamily="18" charset="-120"/>
              </a:rPr>
              <a:t>Limits and next steps</a:t>
            </a:r>
            <a:endParaRPr lang="en-US" sz="3200" dirty="0"/>
          </a:p>
        </p:txBody>
      </p:sp>
      <p:sp>
        <p:nvSpPr>
          <p:cNvPr id="4" name="Shape 2"/>
          <p:cNvSpPr/>
          <p:nvPr/>
        </p:nvSpPr>
        <p:spPr>
          <a:xfrm>
            <a:off x="812731" y="1899791"/>
            <a:ext cx="5181668" cy="3942269"/>
          </a:xfrm>
          <a:prstGeom prst="roundRect">
            <a:avLst>
              <a:gd name="adj" fmla="val 2577"/>
            </a:avLst>
          </a:prstGeom>
          <a:solidFill>
            <a:srgbClr val="F3E9EE"/>
          </a:solidFill>
          <a:ln/>
        </p:spPr>
      </p:sp>
      <p:sp>
        <p:nvSpPr>
          <p:cNvPr id="5" name="Text 3"/>
          <p:cNvSpPr/>
          <p:nvPr/>
        </p:nvSpPr>
        <p:spPr>
          <a:xfrm>
            <a:off x="1168273" y="2255335"/>
            <a:ext cx="4604701"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03156"/>
                </a:solidFill>
                <a:latin typeface="IBM Plex Sans" pitchFamily="34" charset="0"/>
                <a:ea typeface="IBM Plex Sans" pitchFamily="34" charset="-122"/>
                <a:cs typeface="IBM Plex Sans" pitchFamily="34" charset="-120"/>
              </a:rPr>
              <a:t>What limits us</a:t>
            </a:r>
            <a:endParaRPr lang="en-US" sz="1500" dirty="0"/>
          </a:p>
        </p:txBody>
      </p:sp>
      <p:sp>
        <p:nvSpPr>
          <p:cNvPr id="6" name="Text 4"/>
          <p:cNvSpPr/>
          <p:nvPr/>
        </p:nvSpPr>
        <p:spPr>
          <a:xfrm>
            <a:off x="1239393" y="2661655"/>
            <a:ext cx="4525961" cy="1454004"/>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Only Spotify's sound measures, and no new ones can be fetched</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The non-hits are random songs, not near misses</a:t>
            </a:r>
            <a:endParaRPr lang="en-US" sz="1500" dirty="0"/>
          </a:p>
          <a:p>
            <a:pPr marL="182880" indent="-182880" algn="l">
              <a:lnSpc>
                <a:spcPts val="2250"/>
              </a:lnSpc>
              <a:buSzPct val="100000"/>
              <a:buChar char="•"/>
            </a:pPr>
            <a:r>
              <a:rPr lang="en-US" sz="1500" dirty="0">
                <a:solidFill>
                  <a:srgbClr val="2E1C31"/>
                </a:solidFill>
                <a:latin typeface="IBM Plex Sans" pitchFamily="34" charset="0"/>
                <a:ea typeface="IBM Plex Sans" pitchFamily="34" charset="-122"/>
                <a:cs typeface="IBM Plex Sans" pitchFamily="34" charset="-120"/>
              </a:rPr>
              <a:t>With 1,004 test songs, gaps under about 3 points are noise</a:t>
            </a:r>
            <a:endParaRPr lang="en-US" sz="1500" dirty="0"/>
          </a:p>
        </p:txBody>
      </p:sp>
      <p:sp>
        <p:nvSpPr>
          <p:cNvPr id="7" name="Shape 5"/>
          <p:cNvSpPr/>
          <p:nvPr/>
        </p:nvSpPr>
        <p:spPr>
          <a:xfrm>
            <a:off x="6197516" y="1899791"/>
            <a:ext cx="5181668" cy="3942269"/>
          </a:xfrm>
          <a:prstGeom prst="roundRect">
            <a:avLst>
              <a:gd name="adj" fmla="val 2577"/>
            </a:avLst>
          </a:prstGeom>
          <a:solidFill>
            <a:srgbClr val="503156"/>
          </a:solidFill>
          <a:ln/>
        </p:spPr>
      </p:sp>
      <p:sp>
        <p:nvSpPr>
          <p:cNvPr id="8" name="Text 6"/>
          <p:cNvSpPr/>
          <p:nvPr/>
        </p:nvSpPr>
        <p:spPr>
          <a:xfrm>
            <a:off x="6553059" y="2255335"/>
            <a:ext cx="4604701" cy="25399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CF7F8"/>
                </a:solidFill>
                <a:latin typeface="IBM Plex Sans" pitchFamily="34" charset="0"/>
                <a:ea typeface="IBM Plex Sans" pitchFamily="34" charset="-122"/>
                <a:cs typeface="IBM Plex Sans" pitchFamily="34" charset="-120"/>
              </a:rPr>
              <a:t>What we would do next</a:t>
            </a:r>
            <a:endParaRPr lang="en-US" sz="1500" dirty="0"/>
          </a:p>
        </p:txBody>
      </p:sp>
      <p:sp>
        <p:nvSpPr>
          <p:cNvPr id="9" name="Text 7"/>
          <p:cNvSpPr/>
          <p:nvPr/>
        </p:nvSpPr>
        <p:spPr>
          <a:xfrm>
            <a:off x="6624179" y="2661655"/>
            <a:ext cx="4525961" cy="1168283"/>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FCF7F8"/>
                </a:solidFill>
                <a:latin typeface="IBM Plex Sans" pitchFamily="34" charset="0"/>
                <a:ea typeface="IBM Plex Sans" pitchFamily="34" charset="-122"/>
                <a:cs typeface="IBM Plex Sans" pitchFamily="34" charset="-120"/>
              </a:rPr>
              <a:t>Add signals like playlists, radio play and social media</a:t>
            </a:r>
            <a:endParaRPr lang="en-US" sz="1500" dirty="0"/>
          </a:p>
          <a:p>
            <a:pPr marL="182880" indent="-182880" algn="l">
              <a:lnSpc>
                <a:spcPts val="2250"/>
              </a:lnSpc>
              <a:buSzPct val="100000"/>
              <a:buChar char="•"/>
            </a:pPr>
            <a:r>
              <a:rPr lang="en-US" sz="1500" dirty="0">
                <a:solidFill>
                  <a:srgbClr val="FCF7F8"/>
                </a:solidFill>
                <a:latin typeface="IBM Plex Sans" pitchFamily="34" charset="0"/>
                <a:ea typeface="IBM Plex Sans" pitchFamily="34" charset="-122"/>
                <a:cs typeface="IBM Plex Sans" pitchFamily="34" charset="-120"/>
              </a:rPr>
              <a:t>Compare hits with songs that almost charted</a:t>
            </a:r>
            <a:endParaRPr lang="en-US" sz="1500" dirty="0"/>
          </a:p>
          <a:p>
            <a:pPr marL="182880" indent="-182880" algn="l">
              <a:lnSpc>
                <a:spcPts val="2250"/>
              </a:lnSpc>
              <a:buSzPct val="100000"/>
              <a:buChar char="•"/>
            </a:pPr>
            <a:r>
              <a:rPr lang="en-US" sz="1500" dirty="0">
                <a:solidFill>
                  <a:srgbClr val="FCF7F8"/>
                </a:solidFill>
                <a:latin typeface="IBM Plex Sans" pitchFamily="34" charset="0"/>
                <a:ea typeface="IBM Plex Sans" pitchFamily="34" charset="-122"/>
                <a:cs typeface="IBM Plex Sans" pitchFamily="34" charset="-120"/>
              </a:rPr>
              <a:t>Predict how high a song climbs, not just yes or no</a:t>
            </a:r>
            <a:endParaRPr lang="en-US" sz="1500" dirty="0"/>
          </a:p>
        </p:txBody>
      </p:sp>
      <p:sp>
        <p:nvSpPr>
          <p:cNvPr id="10" name="Text 8"/>
          <p:cNvSpPr/>
          <p:nvPr/>
        </p:nvSpPr>
        <p:spPr>
          <a:xfrm>
            <a:off x="812731" y="6238298"/>
            <a:ext cx="588638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A6E"/>
                </a:solidFill>
                <a:latin typeface="IBM Plex Sans" pitchFamily="34" charset="0"/>
                <a:ea typeface="IBM Plex Sans" pitchFamily="34" charset="-122"/>
                <a:cs typeface="IBM Plex Sans" pitchFamily="34" charset="-120"/>
              </a:rPr>
              <a:t>HitPredict revisited</a:t>
            </a:r>
            <a:endParaRPr lang="en-US" sz="1200" dirty="0"/>
          </a:p>
        </p:txBody>
      </p:sp>
      <p:sp>
        <p:nvSpPr>
          <p:cNvPr id="11" name="Text 9"/>
          <p:cNvSpPr/>
          <p:nvPr/>
        </p:nvSpPr>
        <p:spPr>
          <a:xfrm>
            <a:off x="10058466" y="6238298"/>
            <a:ext cx="132071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5A6E"/>
                </a:solidFill>
                <a:latin typeface="IBM Plex Sans" pitchFamily="34" charset="0"/>
                <a:ea typeface="IBM Plex Sans" pitchFamily="34" charset="-122"/>
                <a:cs typeface="IBM Plex Sans" pitchFamily="34"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0315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31" y="812732"/>
            <a:ext cx="10883447" cy="726399"/>
          </a:xfrm>
          <a:prstGeom prst="rect">
            <a:avLst/>
          </a:prstGeom>
          <a:noFill/>
          <a:ln/>
        </p:spPr>
        <p:txBody>
          <a:bodyPr wrap="square" lIns="0" tIns="0" rIns="0" bIns="0" rtlCol="0" anchor="t">
            <a:normAutofit/>
          </a:bodyPr>
          <a:lstStyle/>
          <a:p>
            <a:pPr marL="0" indent="0" algn="l">
              <a:lnSpc>
                <a:spcPts val="5520"/>
              </a:lnSpc>
              <a:buNone/>
            </a:pPr>
            <a:r>
              <a:rPr lang="en-US" sz="4800" b="1" i="0" dirty="0">
                <a:solidFill>
                  <a:srgbClr val="FCF7F8"/>
                </a:solidFill>
                <a:latin typeface="Libre Baskerville" pitchFamily="18" charset="0"/>
                <a:ea typeface="Libre Baskerville" pitchFamily="18" charset="-122"/>
                <a:cs typeface="Libre Baskerville" pitchFamily="18" charset="-120"/>
              </a:rPr>
              <a:t>Thank you</a:t>
            </a:r>
            <a:endParaRPr lang="en-US" sz="4800" dirty="0"/>
          </a:p>
        </p:txBody>
      </p:sp>
      <p:sp>
        <p:nvSpPr>
          <p:cNvPr id="3" name="Text 1"/>
          <p:cNvSpPr/>
          <p:nvPr/>
        </p:nvSpPr>
        <p:spPr>
          <a:xfrm>
            <a:off x="812731" y="1716850"/>
            <a:ext cx="10883447" cy="380942"/>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CD8C1"/>
                </a:solidFill>
                <a:latin typeface="IBM Plex Sans" pitchFamily="34" charset="0"/>
                <a:ea typeface="IBM Plex Sans" pitchFamily="34" charset="-122"/>
                <a:cs typeface="IBM Plex Sans" pitchFamily="34" charset="-120"/>
              </a:rPr>
              <a:t>Questions are welcome.</a:t>
            </a:r>
            <a:endParaRPr lang="en-US" sz="2000" dirty="0"/>
          </a:p>
        </p:txBody>
      </p:sp>
      <p:sp>
        <p:nvSpPr>
          <p:cNvPr id="4" name="Text 2"/>
          <p:cNvSpPr/>
          <p:nvPr/>
        </p:nvSpPr>
        <p:spPr>
          <a:xfrm>
            <a:off x="812731" y="5489048"/>
            <a:ext cx="10883447" cy="292079"/>
          </a:xfrm>
          <a:prstGeom prst="rect">
            <a:avLst/>
          </a:prstGeom>
          <a:noFill/>
          <a:ln/>
        </p:spPr>
        <p:txBody>
          <a:bodyPr wrap="square" lIns="0" tIns="0" rIns="0" bIns="0" rtlCol="0" anchor="t">
            <a:normAutofit/>
          </a:bodyPr>
          <a:lstStyle/>
          <a:p>
            <a:pPr>
              <a:lnSpc>
                <a:spcPts val="2100"/>
              </a:lnSpc>
            </a:pPr>
            <a:r>
              <a:rPr lang="en-US" sz="1500" dirty="0">
                <a:solidFill>
                  <a:srgbClr val="FCF7F8"/>
                </a:solidFill>
                <a:latin typeface="IBM Plex Sans" pitchFamily="34" charset="0"/>
                <a:ea typeface="IBM Plex Sans" pitchFamily="34" charset="-122"/>
                <a:cs typeface="IBM Plex Sans" pitchFamily="34" charset="-120"/>
              </a:rPr>
              <a:t>[Patruni Vishnu , PES1UG24AM187] and [Piyush G Nadgir ,PES1UG24AM190]</a:t>
            </a:r>
            <a:endParaRPr lang="en-US" sz="1500" dirty="0"/>
          </a:p>
          <a:p>
            <a:pPr marL="0" indent="0" algn="l">
              <a:lnSpc>
                <a:spcPts val="2100"/>
              </a:lnSpc>
              <a:buNone/>
            </a:pPr>
            <a:endParaRPr lang="en-US" sz="1500" dirty="0"/>
          </a:p>
        </p:txBody>
      </p:sp>
      <p:sp>
        <p:nvSpPr>
          <p:cNvPr id="5" name="Text 3"/>
          <p:cNvSpPr/>
          <p:nvPr/>
        </p:nvSpPr>
        <p:spPr>
          <a:xfrm>
            <a:off x="812731" y="5831886"/>
            <a:ext cx="10883447"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8C1"/>
                </a:solidFill>
                <a:latin typeface="IBM Plex Sans" pitchFamily="34" charset="0"/>
                <a:ea typeface="IBM Plex Sans" pitchFamily="34" charset="-122"/>
                <a:cs typeface="IBM Plex Sans" pitchFamily="34" charset="-120"/>
              </a:rPr>
              <a:t>Code, results and demo: [GitHub repository link]</a:t>
            </a:r>
            <a:endParaRPr lang="en-US" sz="1200" dirty="0"/>
          </a:p>
        </p:txBody>
      </p:sp>
    </p:spTree>
  </p:cSld>
  <p:clrMapOvr>
    <a:masterClrMapping/>
  </p:clrMapOvr>
</p:sld>
</file>

<file path=ppt/theme/theme1.xml><?xml version="1.0" encoding="utf-8"?>
<a:theme xmlns:a="http://schemas.openxmlformats.org/drawingml/2006/main" name="HitPredict Review Deck">
  <a:themeElements>
    <a:clrScheme name="HitPredict Review Deck">
      <a:dk1>
        <a:srgbClr val="503156"/>
      </a:dk1>
      <a:lt1>
        <a:srgbClr val="FCF7F8"/>
      </a:lt1>
      <a:dk2>
        <a:srgbClr val="7B637F"/>
      </a:dk2>
      <a:lt2>
        <a:srgbClr val="EBE3E8"/>
      </a:lt2>
      <a:accent1>
        <a:srgbClr val="A31621"/>
      </a:accent1>
      <a:accent2>
        <a:srgbClr val="2E1C31"/>
      </a:accent2>
      <a:accent3>
        <a:srgbClr val="6B5A6E"/>
      </a:accent3>
      <a:accent4>
        <a:srgbClr val="BCD8C1"/>
      </a:accent4>
      <a:accent5>
        <a:srgbClr val="F6DADD"/>
      </a:accent5>
      <a:accent6>
        <a:srgbClr val="F2D5D8"/>
      </a:accent6>
      <a:hlink>
        <a:srgbClr val="0563C1"/>
      </a:hlink>
      <a:folHlink>
        <a:srgbClr val="954F72"/>
      </a:folHlink>
    </a:clrScheme>
    <a:fontScheme name="HitPredict Review Dec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3183</Words>
  <Application>Microsoft Office PowerPoint</Application>
  <PresentationFormat>Widescreen</PresentationFormat>
  <Paragraphs>208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IBM Plex Sans</vt:lpstr>
      <vt:lpstr>Libre Baskerville</vt:lpstr>
      <vt:lpstr>HitPredict Review Deck</vt:lpstr>
      <vt:lpstr>Can a computer spot a hit song?</vt:lpstr>
      <vt:lpstr>Will this song reach the Hot 100?</vt:lpstr>
      <vt:lpstr>The reference paper and our goals</vt:lpstr>
      <vt:lpstr>4,019 songs from the authors' own files</vt:lpstr>
      <vt:lpstr>Five steps from data to answer</vt:lpstr>
      <vt:lpstr>We test on artists the model never saw</vt:lpstr>
      <vt:lpstr>We got the paper's numbers back</vt:lpstr>
      <vt:lpstr>Three counting mistakes in the paper's code</vt:lpstr>
      <vt:lpstr>Are holiday hits different? Mostly not</vt:lpstr>
      <vt:lpstr>Thirteen models, one narrow race</vt:lpstr>
      <vt:lpstr>Where the model still goes wrong</vt:lpstr>
      <vt:lpstr>Four changes, added one at a time</vt:lpstr>
      <vt:lpstr>What you will see</vt:lpstr>
      <vt:lpstr>Three numbers to remember</vt:lpstr>
      <vt:lpstr>Limits and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HitPredict Review Deck</dc:title>
  <dc:subject/>
  <dc:creator/>
  <cp:lastModifiedBy>Vishnu Patruni</cp:lastModifiedBy>
  <cp:revision>2</cp:revision>
  <dcterms:created xsi:type="dcterms:W3CDTF">2026-10-05T06:31:01Z</dcterms:created>
  <dcterms:modified xsi:type="dcterms:W3CDTF">2026-10-05T06:40:36Z</dcterms:modified>
</cp:coreProperties>
</file>